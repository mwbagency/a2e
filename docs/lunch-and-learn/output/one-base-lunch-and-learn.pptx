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7c83cb77154602" /><Relationship Type="http://schemas.openxmlformats.org/officeDocument/2006/relationships/extended-properties" Target="/docProps/app.xml" Id="Rccdb4edf6ce3470d" /><Relationship Type="http://schemas.openxmlformats.org/officeDocument/2006/relationships/officeDocument" Target="/ppt/presentation.xml" Id="Rf70e1384a3d54f37" /></Relationships>
</file>

<file path=ppt/presentation.xml><?xml version="1.0" encoding="utf-8"?>
<p:presentation xmlns:p="http://schemas.openxmlformats.org/presentationml/2006/main">
  <p:sldMasterIdLst>
    <p:sldMasterId xmlns:r="http://schemas.openxmlformats.org/officeDocument/2006/relationships" id="2147483648" r:id="R51e9f9dd16774684"/>
  </p:sldMasterIdLst>
  <p:notesMasterIdLst>
    <p:notesMasterId xmlns:r="http://schemas.openxmlformats.org/officeDocument/2006/relationships" r:id="R13c809eb17904b26"/>
  </p:notesMasterIdLst>
  <p:sldIdLst>
    <p:sldId xmlns:r="http://schemas.openxmlformats.org/officeDocument/2006/relationships" id="256" r:id="R9969732d35b6417e"/>
    <p:sldId xmlns:r="http://schemas.openxmlformats.org/officeDocument/2006/relationships" id="257" r:id="R429f2b380b394f07"/>
    <p:sldId xmlns:r="http://schemas.openxmlformats.org/officeDocument/2006/relationships" id="258" r:id="R6769089106f04d84"/>
    <p:sldId xmlns:r="http://schemas.openxmlformats.org/officeDocument/2006/relationships" id="259" r:id="R11175418dc3d4f88"/>
    <p:sldId xmlns:r="http://schemas.openxmlformats.org/officeDocument/2006/relationships" id="260" r:id="R5b896882861f4592"/>
    <p:sldId xmlns:r="http://schemas.openxmlformats.org/officeDocument/2006/relationships" id="261" r:id="Rcbddf4093512477e"/>
    <p:sldId xmlns:r="http://schemas.openxmlformats.org/officeDocument/2006/relationships" id="262" r:id="R68b8dd1dafc84df0"/>
    <p:sldId xmlns:r="http://schemas.openxmlformats.org/officeDocument/2006/relationships" id="263" r:id="R4c24743166654d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a53249a2f24d07" /><Relationship Type="http://schemas.openxmlformats.org/officeDocument/2006/relationships/slideMaster" Target="/ppt/slideMasters/slideMaster1.xml" Id="R51e9f9dd16774684" /><Relationship Type="http://schemas.openxmlformats.org/officeDocument/2006/relationships/notesMaster" Target="/ppt/notesMasters/notesMaster1.xml" Id="R13c809eb17904b26" /><Relationship Type="http://schemas.openxmlformats.org/officeDocument/2006/relationships/presProps" Target="/ppt/presProps.xml" Id="R23da2da0a54f4a07" /><Relationship Type="http://schemas.openxmlformats.org/officeDocument/2006/relationships/tableStyles" Target="/ppt/tableStyles.xml" Id="Rae0d1143d1a1411e" /><Relationship Type="http://schemas.openxmlformats.org/officeDocument/2006/relationships/slide" Target="/ppt/slides/slide1.xml" Id="R9969732d35b6417e" /><Relationship Type="http://schemas.openxmlformats.org/officeDocument/2006/relationships/slide" Target="/ppt/slides/slide2.xml" Id="R429f2b380b394f07" /><Relationship Type="http://schemas.openxmlformats.org/officeDocument/2006/relationships/slide" Target="/ppt/slides/slide3.xml" Id="R6769089106f04d84" /><Relationship Type="http://schemas.openxmlformats.org/officeDocument/2006/relationships/slide" Target="/ppt/slides/slide4.xml" Id="R11175418dc3d4f88" /><Relationship Type="http://schemas.openxmlformats.org/officeDocument/2006/relationships/slide" Target="/ppt/slides/slide5.xml" Id="R5b896882861f4592" /><Relationship Type="http://schemas.openxmlformats.org/officeDocument/2006/relationships/slide" Target="/ppt/slides/slide6.xml" Id="Rcbddf4093512477e" /><Relationship Type="http://schemas.openxmlformats.org/officeDocument/2006/relationships/slide" Target="/ppt/slides/slide7.xml" Id="R68b8dd1dafc84df0" /><Relationship Type="http://schemas.openxmlformats.org/officeDocument/2006/relationships/slide" Target="/ppt/slides/slide8.xml" Id="R4c24743166654d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535a81451248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c7faf3700142e4" /><Relationship Type="http://schemas.openxmlformats.org/officeDocument/2006/relationships/notesMaster" Target="/ppt/notesMasters/notesMaster1.xml" Id="R3ae4f233bbff44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350e56ac0c4580" /><Relationship Type="http://schemas.openxmlformats.org/officeDocument/2006/relationships/notesMaster" Target="/ppt/notesMasters/notesMaster1.xml" Id="R3c3a036f3c2346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fda490983f4187" /><Relationship Type="http://schemas.openxmlformats.org/officeDocument/2006/relationships/notesMaster" Target="/ppt/notesMasters/notesMaster1.xml" Id="R49204bf009f740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36ad01f30840fb" /><Relationship Type="http://schemas.openxmlformats.org/officeDocument/2006/relationships/notesMaster" Target="/ppt/notesMasters/notesMaster1.xml" Id="R3fe37af5199d47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5695d2284a431a" /><Relationship Type="http://schemas.openxmlformats.org/officeDocument/2006/relationships/notesMaster" Target="/ppt/notesMasters/notesMaster1.xml" Id="R45a7c59fac8846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c0d15de2a3414c" /><Relationship Type="http://schemas.openxmlformats.org/officeDocument/2006/relationships/notesMaster" Target="/ppt/notesMasters/notesMaster1.xml" Id="R15a9bfdf38cf4a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b006ddf8954762" /><Relationship Type="http://schemas.openxmlformats.org/officeDocument/2006/relationships/notesMaster" Target="/ppt/notesMasters/notesMaster1.xml" Id="Rf73612bec2e547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885fe0639d4c7c" /><Relationship Type="http://schemas.openxmlformats.org/officeDocument/2006/relationships/notesMaster" Target="/ppt/notesMasters/notesMaster1.xml" Id="R96ff00954b904e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 · One Base · 0:00–1:00</a:t>
            </a:r>
          </a:p>
          <a:p xmlns:a="http://schemas.openxmlformats.org/drawingml/2006/main">
            <a:r>
              <a:t/>
            </a:r>
          </a:p>
          <a:p xmlns:a="http://schemas.openxmlformats.org/drawingml/2006/main">
            <a:r>
              <a:t>Show: the opening slide. Briefly point to the A2E homepage if already open.</a:t>
            </a:r>
          </a:p>
          <a:p xmlns:a="http://schemas.openxmlformats.org/drawingml/2006/main">
            <a:r>
              <a:t/>
            </a:r>
          </a:p>
          <a:p xmlns:a="http://schemas.openxmlformats.org/drawingml/2006/main">
            <a:r>
              <a:t>Say:</a:t>
            </a:r>
          </a:p>
          <a:p xmlns:a="http://schemas.openxmlformats.org/drawingml/2006/main">
            <a:r>
              <a:t/>
            </a:r>
          </a:p>
          <a:p xmlns:a="http://schemas.openxmlformats.org/drawingml/2006/main">
            <a:r>
              <a:t>“Today I want to show you how our new base theme changes the way we build and edit a website. By the end, you should know what a block is, what a pattern is, and where to make a change depending on how widely it should apply.</a:t>
            </a:r>
          </a:p>
          <a:p xmlns:a="http://schemas.openxmlformats.org/drawingml/2006/main">
            <a:r>
              <a:t/>
            </a:r>
          </a:p>
          <a:p xmlns:a="http://schemas.openxmlformats.org/drawingml/2006/main">
            <a:r>
              <a:t>“The reason for this work is to make everyday page building more flexible, while keeping a consistent design. A heading change, a different image or a new arrangement of existing content should use the editing system wherever possible. Developers can then spend more time on the behaviour and data that are specific to the project.</a:t>
            </a:r>
          </a:p>
          <a:p xmlns:a="http://schemas.openxmlformats.org/drawingml/2006/main">
            <a:r>
              <a:t/>
            </a:r>
          </a:p>
          <a:p xmlns:a="http://schemas.openxmlformats.org/drawingml/2006/main">
            <a:r>
              <a:t>“I’ll use A2E to show that in practice.”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/Users/christopher/Docker/wordpress/a2e/wp-content/themes/one-base-theme/patterns/README.md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 · What has changed · 1:00–3:00</a:t>
            </a:r>
          </a:p>
          <a:p xmlns:a="http://schemas.openxmlformats.org/drawingml/2006/main">
            <a:r>
              <a:t/>
            </a:r>
          </a:p>
          <a:p xmlns:a="http://schemas.openxmlformats.org/drawingml/2006/main">
            <a:r>
              <a:t>Show: the comparison table. Explain the first two rows to everyone. Keep the final row brief.</a:t>
            </a:r>
          </a:p>
          <a:p xmlns:a="http://schemas.openxmlformats.org/drawingml/2006/main">
            <a:r>
              <a:t/>
            </a:r>
          </a:p>
          <a:p xmlns:a="http://schemas.openxmlformats.org/drawingml/2006/main">
            <a:r>
              <a:t>Say:</a:t>
            </a:r>
          </a:p>
          <a:p xmlns:a="http://schemas.openxmlformats.org/drawingml/2006/main">
            <a:r>
              <a:t/>
            </a:r>
          </a:p>
          <a:p xmlns:a="http://schemas.openxmlformats.org/drawingml/2006/main">
            <a:r>
              <a:t>“Our previous base theme already gave us reusable sections, ACF controls and global brand settings. Those were useful capabilities, and we’re keeping that approach to reuse.</a:t>
            </a:r>
          </a:p>
          <a:p xmlns:a="http://schemas.openxmlformats.org/drawingml/2006/main">
            <a:r>
              <a:t/>
            </a:r>
          </a:p>
          <a:p xmlns:a="http://schemas.openxmlformats.org/drawingml/2006/main">
            <a:r>
              <a:t>“A typical section in the older theme was a custom ACF block. A developer defined its fields and the rendering template. Editors could change what those controls exposed, but a different internal arrangement often needed development work.</a:t>
            </a:r>
          </a:p>
          <a:p xmlns:a="http://schemas.openxmlformats.org/drawingml/2006/main">
            <a:r>
              <a:t/>
            </a:r>
          </a:p>
          <a:p xmlns:a="http://schemas.openxmlformats.org/drawingml/2006/main">
            <a:r>
              <a:t>“In One Base, many sections are patterns assembled from WordPress blocks and a smaller set of reusable custom components. That means the section arrives designed, but the pieces inside it are still editable. A new arrangement can often reuse the same pieces.</a:t>
            </a:r>
          </a:p>
          <a:p xmlns:a="http://schemas.openxmlformats.org/drawingml/2006/main">
            <a:r>
              <a:t/>
            </a:r>
          </a:p>
          <a:p xmlns:a="http://schemas.openxmlformats.org/drawingml/2006/main">
            <a:r>
              <a:t>“Brand settings now have a standard home in theme.json and WordPress Styles. The old theme also had central colour and font controls. The improvement is that the settings work through WordPress’s shared styling system.</a:t>
            </a:r>
          </a:p>
          <a:p xmlns:a="http://schemas.openxmlformats.org/drawingml/2006/main">
            <a:r>
              <a:t/>
            </a:r>
          </a:p>
          <a:p xmlns:a="http://schemas.openxmlformats.org/drawingml/2006/main">
            <a:r>
              <a:t>“We’ve also separated content definitions, such as courses and their fields, from the theme. That makes a future redesign easier to reason about because the content model has its own home.”</a:t>
            </a:r>
          </a:p>
          <a:p xmlns:a="http://schemas.openxmlformats.org/drawingml/2006/main">
            <a:r>
              <a:t/>
            </a:r>
          </a:p>
          <a:p xmlns:a="http://schemas.openxmlformats.org/drawingml/2006/main">
            <a:r>
              <a:t>Keep the comparison fair: both implementations already use Gutenberg and automatic block discovery. Do not describe this as “we finally have blocks”, “we removed ACF”, or “we invented reusable components”. The new registration uses WordPress block metadata, rather than the older PHP class conventions.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/Users/christopher/Local Sites/rvt/app/public/wp-content/themes/rvt/includes/Block/HERO/HERO001.php</a:t>
            </a:r>
          </a:p>
          <a:p xmlns:a="http://schemas.openxmlformats.org/drawingml/2006/main">
            <a:r>
              <a:t>/Users/christopher/Local Sites/rvt/app/public/wp-content/themes/rvt/includes/Block/Block.php</a:t>
            </a:r>
          </a:p>
          <a:p xmlns:a="http://schemas.openxmlformats.org/drawingml/2006/main">
            <a:r>
              <a:t>/Users/christopher/Local Sites/rvt/app/public/wp-content/themes/rvt/includes/Blocks.php</a:t>
            </a:r>
          </a:p>
          <a:p xmlns:a="http://schemas.openxmlformats.org/drawingml/2006/main">
            <a:r>
              <a:t>/Users/christopher/Local Sites/rvt/app/public/wp-content/themes/rvt/includes/Theme.php</a:t>
            </a:r>
          </a:p>
          <a:p xmlns:a="http://schemas.openxmlformats.org/drawingml/2006/main">
            <a:r>
              <a:t>/Users/christopher/Local Sites/rvt/app/public/wp-content/themes/rvt/includes/CPTs.php</a:t>
            </a:r>
          </a:p>
          <a:p xmlns:a="http://schemas.openxmlformats.org/drawingml/2006/main">
            <a:r>
              <a:t>/Users/christopher/Docker/wordpress/a2e/wp-content/themes/one-base-theme/theme.json</a:t>
            </a:r>
          </a:p>
          <a:p xmlns:a="http://schemas.openxmlformats.org/drawingml/2006/main">
            <a:r>
              <a:t>/Users/christopher/Docker/wordpress/a2e/wp-content/mu-plugins/one-courses/src/CoursePostType.php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3 · Blocks, patterns and templates · 3:00–5:00</a:t>
            </a:r>
          </a:p>
          <a:p xmlns:a="http://schemas.openxmlformats.org/drawingml/2006/main">
            <a:r>
              <a:t/>
            </a:r>
          </a:p>
          <a:p xmlns:a="http://schemas.openxmlformats.org/drawingml/2006/main">
            <a:r>
              <a:t>Show: the definitions slide. Use a call-to-action section throughout the explanation.</a:t>
            </a:r>
          </a:p>
          <a:p xmlns:a="http://schemas.openxmlformats.org/drawingml/2006/main">
            <a:r>
              <a:t/>
            </a:r>
          </a:p>
          <a:p xmlns:a="http://schemas.openxmlformats.org/drawingml/2006/main">
            <a:r>
              <a:t>Say:</a:t>
            </a:r>
          </a:p>
          <a:p xmlns:a="http://schemas.openxmlformats.org/drawingml/2006/main">
            <a:r>
              <a:t/>
            </a:r>
          </a:p>
          <a:p xmlns:a="http://schemas.openxmlformats.org/drawingml/2006/main">
            <a:r>
              <a:t>“A block is a piece of content or functionality with its own controls. A Heading is a block. An Image is a block. Our Icon Button is also a block, with controls for its link and optional icon. Blocks can contain other blocks, and some blocks fetch data.</a:t>
            </a:r>
          </a:p>
          <a:p xmlns:a="http://schemas.openxmlformats.org/drawingml/2006/main">
            <a:r>
              <a:t/>
            </a:r>
          </a:p>
          <a:p xmlns:a="http://schemas.openxmlformats.org/drawingml/2006/main">
            <a:r>
              <a:t>“A pattern is a prepared arrangement of blocks. Our call-to-action pattern contains a surrounding Group, a heading, supporting copy and buttons. Inserting the pattern saves you from assembling and styling that arrangement from scratch.</a:t>
            </a:r>
          </a:p>
          <a:p xmlns:a="http://schemas.openxmlformats.org/drawingml/2006/main">
            <a:r>
              <a:t/>
            </a:r>
          </a:p>
          <a:p xmlns:a="http://schemas.openxmlformats.org/drawingml/2006/main">
            <a:r>
              <a:t>“A page pattern is a larger starting layout made from several sections. A template has a different job: it supplies the shared page structure, including where the page’s own content appears. A template part is a shared area such as the header or footer.</a:t>
            </a:r>
          </a:p>
          <a:p xmlns:a="http://schemas.openxmlformats.org/drawingml/2006/main">
            <a:r>
              <a:t/>
            </a:r>
          </a:p>
          <a:p xmlns:a="http://schemas.openxmlformats.org/drawingml/2006/main">
            <a:r>
              <a:t>“When you need a heading, add a block. When you need a designed section, start with a pattern. When you need to change the shared page shell, look at the template.</a:t>
            </a:r>
          </a:p>
          <a:p xmlns:a="http://schemas.openxmlformats.org/drawingml/2006/main">
            <a:r>
              <a:t/>
            </a:r>
          </a:p>
          <a:p xmlns:a="http://schemas.openxmlformats.org/drawingml/2006/main">
            <a:r>
              <a:t>“Whether a pattern stays linked to other uses is a separate choice. I’ll show that after the demo.”</a:t>
            </a:r>
          </a:p>
          <a:p xmlns:a="http://schemas.openxmlformats.org/drawingml/2006/main">
            <a:r>
              <a:t/>
            </a:r>
          </a:p>
          <a:p xmlns:a="http://schemas.openxmlformats.org/drawingml/2006/main">
            <a:r>
              <a:t>Audience prompt: “In this call to action, which part is the pattern, and which parts are blocks?” Take one answer, then move on.</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/Users/christopher/Docker/wordpress/a2e/wp-content/themes/one-base-theme/patterns/ctas/ctas004_centred-panel.php</a:t>
            </a:r>
          </a:p>
          <a:p xmlns:a="http://schemas.openxmlformats.org/drawingml/2006/main">
            <a:r>
              <a:t>/Users/christopher/Docker/wordpress/a2e/wp-content/themes/one-base-theme/templates/single-course.html</a:t>
            </a:r>
          </a:p>
          <a:p xmlns:a="http://schemas.openxmlformats.org/drawingml/2006/main">
            <a:r>
              <a:t>https://wordpress.org/documentation/article/work-with-blocks/</a:t>
            </a:r>
          </a:p>
          <a:p xmlns:a="http://schemas.openxmlformats.org/drawingml/2006/main">
            <a:r>
              <a:t>https://wordpress.org/documentation/article/site-editor-patterns/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4 · Building a section · 5:00–9:00</a:t>
            </a:r>
          </a:p>
          <a:p xmlns:a="http://schemas.openxmlformats.org/drawingml/2006/main">
            <a:r>
              <a:t/>
            </a:r>
          </a:p>
          <a:p xmlns:a="http://schemas.openxmlformats.org/drawingml/2006/main">
            <a:r>
              <a:t>Switch to the prepared unpublished page.</a:t>
            </a:r>
          </a:p>
          <a:p xmlns:a="http://schemas.openxmlformats.org/drawingml/2006/main">
            <a:r>
              <a:t/>
            </a:r>
          </a:p>
          <a:p xmlns:a="http://schemas.openxmlformats.org/drawingml/2006/main">
            <a:r>
              <a:t>| Time | Do this | Say this |</a:t>
            </a:r>
          </a:p>
          <a:p xmlns:a="http://schemas.openxmlformats.org/drawingml/2006/main">
            <a:r>
              <a:t>| --- | --- | --- |</a:t>
            </a:r>
          </a:p>
          <a:p xmlns:a="http://schemas.openxmlformats.org/drawingml/2006/main">
            <a:r>
              <a:t>| 5:00–5:40 | Open the `+` inserter, choose Patterns, then A2E. Insert Call to action — centred panel. | “We start with a section that already has a design. This gives us a consistent starting point.” |</a:t>
            </a:r>
          </a:p>
          <a:p xmlns:a="http://schemas.openxmlformats.org/drawingml/2006/main">
            <a:r>
              <a:t>| 5:40–6:20 | Open List View. Select the outer Group, then the Heading and a Paragraph inside it. | “The section contains individual blocks. List View shows the structure and makes the right level easier to select.” |</a:t>
            </a:r>
          </a:p>
          <a:p xmlns:a="http://schemas.openxmlformats.org/drawingml/2006/main">
            <a:r>
              <a:t>| 6:20–7:10 | Change the heading to Talk to us about your training needs. Replace the supporting paragraph. Select an Icon Button, set its text to Get in touch, and set the link to `/contact-us/`. Toggle its optional icon if time permits. | “These are content changes. The section keeps its layout while I edit the message and the action.” |</a:t>
            </a:r>
          </a:p>
          <a:p xmlns:a="http://schemas.openxmlformats.org/drawingml/2006/main">
            <a:r>
              <a:t>| 7:10–8:00 | Select the outermost section Group. Open its options menu and choose Duplicate. Change only the duplicate’s heading. Use the move controls to reposition the whole section. | “These two copies can have different content. Moving the outer Group keeps the section together.” |</a:t>
            </a:r>
          </a:p>
          <a:p xmlns:a="http://schemas.openxmlformats.org/drawingml/2006/main">
            <a:r>
              <a:t>| 8:00–9:00 | Save the page as a draft, reload it, and preview it at desktop and mobile widths. | “Saving and reopening checks that the content persists. The frontend preview checks how the actual page behaves at different widths.” |</a:t>
            </a:r>
          </a:p>
          <a:p xmlns:a="http://schemas.openxmlformats.org/drawingml/2006/main">
            <a:r>
              <a:t/>
            </a:r>
          </a:p>
          <a:p xmlns:a="http://schemas.openxmlformats.org/drawingml/2006/main">
            <a:r>
              <a:t>If duplicating a section that has an HTML anchor, give the duplicate a unique anchor. Keep the `one-202x-pattern-*` class: it connects the section to its assets. Do not remove structural wrappers to tidy List View.</a:t>
            </a:r>
          </a:p>
          <a:p xmlns:a="http://schemas.openxmlformats.org/drawingml/2006/main">
            <a:r>
              <a:t/>
            </a:r>
          </a:p>
          <a:p xmlns:a="http://schemas.openxmlformats.org/drawingml/2006/main">
            <a:r>
              <a:t>Do not put an entire section into Create pattern during this four-minute demonstration. Explain synced patterns on slide 6, or demonstrate them during questions.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/Users/christopher/Docker/wordpress/a2e/wp-content/themes/one-base-theme/patterns/ctas/ctas004_centred-panel.php</a:t>
            </a:r>
          </a:p>
          <a:p xmlns:a="http://schemas.openxmlformats.org/drawingml/2006/main">
            <a:r>
              <a:t>/Users/christopher/Docker/wordpress/a2e/wp-content/themes/one-base-theme/blocks/icon-button/block.json</a:t>
            </a:r>
          </a:p>
          <a:p xmlns:a="http://schemas.openxmlformats.org/drawingml/2006/main">
            <a:r>
              <a:t>https://learn.wordpress.org/tutorial/using-block-patterns/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5 · Customisation and its reach · 9:00–11:00</a:t>
            </a:r>
          </a:p>
          <a:p xmlns:a="http://schemas.openxmlformats.org/drawingml/2006/main">
            <a:r>
              <a:t/>
            </a:r>
          </a:p>
          <a:p xmlns:a="http://schemas.openxmlformats.org/drawingml/2006/main">
            <a:r>
              <a:t>Show: the prepared plain Group, then the Styles screen. Return to the slide if the controls take too long to locate.</a:t>
            </a:r>
          </a:p>
          <a:p xmlns:a="http://schemas.openxmlformats.org/drawingml/2006/main">
            <a:r>
              <a:t/>
            </a:r>
          </a:p>
          <a:p xmlns:a="http://schemas.openxmlformats.org/drawingml/2006/main">
            <a:r>
              <a:t>Say:</a:t>
            </a:r>
          </a:p>
          <a:p xmlns:a="http://schemas.openxmlformats.org/drawingml/2006/main">
            <a:r>
              <a:t/>
            </a:r>
          </a:p>
          <a:p xmlns:a="http://schemas.openxmlformats.org/drawingml/2006/main">
            <a:r>
              <a:t>“Before making a change, decide how far it should reach.</a:t>
            </a:r>
          </a:p>
          <a:p xmlns:a="http://schemas.openxmlformats.org/drawingml/2006/main">
            <a:r>
              <a:t/>
            </a:r>
          </a:p>
          <a:p xmlns:a="http://schemas.openxmlformats.org/drawingml/2006/main">
            <a:r>
              <a:t>“For one section, select its block and use the controls available for that block. Here I can give this Group the Light Card, Accent Card or Dark Card style. These are named appearances of the same block, so we can offer useful choices without making a new block for every colour treatment.</a:t>
            </a:r>
          </a:p>
          <a:p xmlns:a="http://schemas.openxmlformats.org/drawingml/2006/main">
            <a:r>
              <a:t/>
            </a:r>
          </a:p>
          <a:p xmlns:a="http://schemas.openxmlformats.org/drawingml/2006/main">
            <a:r>
              <a:t>“For the wider site, authorised editors can use Appearance, Editor, Styles. Those changes affect the elements that use those settings. A local colour or custom CSS can still take precedence, so a global change does not necessarily repaint every element.</a:t>
            </a:r>
          </a:p>
          <a:p xmlns:a="http://schemas.openxmlformats.org/drawingml/2006/main">
            <a:r>
              <a:t/>
            </a:r>
          </a:p>
          <a:p xmlns:a="http://schemas.openxmlformats.org/drawingml/2006/main">
            <a:r>
              <a:t>“For developers, theme.json defines the starting palette, typography, spacing and widths. In A2E, the content width is 760 pixels and the wide width is 1,280 pixels. Component CSS then handles the layout details that the shared settings do not cover.</a:t>
            </a:r>
          </a:p>
          <a:p xmlns:a="http://schemas.openxmlformats.org/drawingml/2006/main">
            <a:r>
              <a:t/>
            </a:r>
          </a:p>
          <a:p xmlns:a="http://schemas.openxmlformats.org/drawingml/2006/main">
            <a:r>
              <a:t>“That gives us a common design foundation and room for deliberate exceptions. It also means we need to understand where a change is stored: editor customisations live in the database and can override the theme files.”</a:t>
            </a:r>
          </a:p>
          <a:p xmlns:a="http://schemas.openxmlformats.org/drawingml/2006/main">
            <a:r>
              <a:t/>
            </a:r>
          </a:p>
          <a:p xmlns:a="http://schemas.openxmlformats.org/drawingml/2006/main">
            <a:r>
              <a:t>Do: switch a Group style in the draft. In the Styles screen, point to typography and colours. If you preview a global change, discard it before leaving. Explain that role permissions determine who can access site-wide controls.</a:t>
            </a:r>
          </a:p>
          <a:p xmlns:a="http://schemas.openxmlformats.org/drawingml/2006/main">
            <a:r>
              <a:t/>
            </a:r>
          </a:p>
          <a:p xmlns:a="http://schemas.openxmlformats.org/drawingml/2006/main">
            <a:r>
              <a:t>Optional developer view, maximum 20 seconds: show `settings.layout`, `settings.color.palette` and `styles` in `theme.json`. Explain “a token is a named design value”. Do not scroll through the whole file.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/Users/christopher/Docker/wordpress/a2e/wp-content/themes/one-base-theme/theme.json</a:t>
            </a:r>
          </a:p>
          <a:p xmlns:a="http://schemas.openxmlformats.org/drawingml/2006/main">
            <a:r>
              <a:t>/Users/christopher/Docker/wordpress/a2e/wp-content/themes/one-base-theme/App/BlockStyles.php</a:t>
            </a:r>
          </a:p>
          <a:p xmlns:a="http://schemas.openxmlformats.org/drawingml/2006/main">
            <a:r>
              <a:t>https://developer.wordpress.org/themes/core-concepts/global-settings-and-styles/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6 · Reuse and shared updates · 11:00–12:30</a:t>
            </a:r>
          </a:p>
          <a:p xmlns:a="http://schemas.openxmlformats.org/drawingml/2006/main">
            <a:r>
              <a:t/>
            </a:r>
          </a:p>
          <a:p xmlns:a="http://schemas.openxmlformats.org/drawingml/2006/main">
            <a:r>
              <a:t>Say:</a:t>
            </a:r>
          </a:p>
          <a:p xmlns:a="http://schemas.openxmlformats.org/drawingml/2006/main">
            <a:r>
              <a:t/>
            </a:r>
          </a:p>
          <a:p xmlns:a="http://schemas.openxmlformats.org/drawingml/2006/main">
            <a:r>
              <a:t>“Reusable does not automatically mean synchronised.</a:t>
            </a:r>
          </a:p>
          <a:p xmlns:a="http://schemas.openxmlformats.org/drawingml/2006/main">
            <a:r>
              <a:t/>
            </a:r>
          </a:p>
          <a:p xmlns:a="http://schemas.openxmlformats.org/drawingml/2006/main">
            <a:r>
              <a:t>“When we insert an ordinary theme pattern into a page, WordPress expands it into editable blocks. Each saved copy has its own content. Changing the source pattern later changes the starting point for future insertions. It does not rewrite those saved copies.</a:t>
            </a:r>
          </a:p>
          <a:p xmlns:a="http://schemas.openxmlformats.org/drawingml/2006/main">
            <a:r>
              <a:t/>
            </a:r>
          </a:p>
          <a:p xmlns:a="http://schemas.openxmlformats.org/drawingml/2006/main">
            <a:r>
              <a:t>“A synced pattern is an explicit shared record. Editing that original updates the instances still linked to it. That is useful for an identical notice or shared call to action. If the content should differ from page to page, choose independent copies, or consider supported pattern overrides after checking the blocks involved.</a:t>
            </a:r>
          </a:p>
          <a:p xmlns:a="http://schemas.openxmlformats.org/drawingml/2006/main">
            <a:r>
              <a:t/>
            </a:r>
          </a:p>
          <a:p xmlns:a="http://schemas.openxmlformats.org/drawingml/2006/main">
            <a:r>
              <a:t>“There’s a separate kind of sharing: the CSS and dynamic block renderer can update across many pages even where the text is independent. So ask both questions: is the content shared, and is the styling shared?”</a:t>
            </a:r>
          </a:p>
          <a:p xmlns:a="http://schemas.openxmlformats.org/drawingml/2006/main">
            <a:r>
              <a:t/>
            </a:r>
          </a:p>
          <a:p xmlns:a="http://schemas.openxmlformats.org/drawingml/2006/main">
            <a:r>
              <a:t>Examples: a course-specific introduction is usually independent. A centrally maintained notice may be synced. A header is usually a template part. Course cards may display shared course records through dynamic blocks, which is another mechanism again.</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/Users/christopher/Docker/wordpress/a2e/wp-content/themes/one-base-theme/patterns/README.md</a:t>
            </a:r>
          </a:p>
          <a:p xmlns:a="http://schemas.openxmlformats.org/drawingml/2006/main">
            <a:r>
              <a:t>https://wordpress.org/documentation/article/reusable-blocks/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7 · What the structure improves · 12:30–14:00</a:t>
            </a:r>
          </a:p>
          <a:p xmlns:a="http://schemas.openxmlformats.org/drawingml/2006/main">
            <a:r>
              <a:t/>
            </a:r>
          </a:p>
          <a:p xmlns:a="http://schemas.openxmlformats.org/drawingml/2006/main">
            <a:r>
              <a:t>Say:</a:t>
            </a:r>
          </a:p>
          <a:p xmlns:a="http://schemas.openxmlformats.org/drawingml/2006/main">
            <a:r>
              <a:t/>
            </a:r>
          </a:p>
          <a:p xmlns:a="http://schemas.openxmlformats.org/drawingml/2006/main">
            <a:r>
              <a:t>“For editors, the main benefit is starting from a designed section and being able to edit its pieces. For designers, shared styles make the approved choices visible in the editing system. For developers, ordinary layouts can use existing blocks, while custom blocks handle the specialist controls and behaviour.</a:t>
            </a:r>
          </a:p>
          <a:p xmlns:a="http://schemas.openxmlformats.org/drawingml/2006/main">
            <a:r>
              <a:t/>
            </a:r>
          </a:p>
          <a:p xmlns:a="http://schemas.openxmlformats.org/drawingml/2006/main">
            <a:r>
              <a:t>“The code has clearer homes too. Presentation lives in the theme. Course and service definitions live in their content modules. A theme change still needs a compatibility review, but it does not need to own those definitions.</a:t>
            </a:r>
          </a:p>
          <a:p xmlns:a="http://schemas.openxmlformats.org/drawingml/2006/main">
            <a:r>
              <a:t/>
            </a:r>
          </a:p>
          <a:p xmlns:a="http://schemas.openxmlformats.org/drawingml/2006/main">
            <a:r>
              <a:t>“Pattern assets also follow the sections that render on the frontend, which gives us a way to avoid loading every section’s assets on every page. Shared assets still load, and the editor needs the pattern styles for previews. This is a useful loading strategy, not a measured speed claim.</a:t>
            </a:r>
          </a:p>
          <a:p xmlns:a="http://schemas.openxmlformats.org/drawingml/2006/main">
            <a:r>
              <a:t/>
            </a:r>
          </a:p>
          <a:p xmlns:a="http://schemas.openxmlformats.org/drawingml/2006/main">
            <a:r>
              <a:t>“The responsibility that comes with flexibility is testing. We still check the saved editor content, the real page, mobile layout and keyboard interactions. Reusing a block or a pattern gives us a stronger starting point, but it does not replace those checks.”</a:t>
            </a:r>
          </a:p>
          <a:p xmlns:a="http://schemas.openxmlformats.org/drawingml/2006/main">
            <a:r>
              <a:t/>
            </a:r>
          </a:p>
          <a:p xmlns:a="http://schemas.openxmlformats.org/drawingml/2006/main">
            <a:r>
              <a:t>Optional code view: the homepage composition file contains section references in display order. Explain that this removes duplicated section markup from page composition files. Named section variants still own their own markup and do not inherit later markup changes from a similarly named base file.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/Users/christopher/Docker/wordpress/a2e/wp-content/themes/one-base-theme/App/PatternAssets.php</a:t>
            </a:r>
          </a:p>
          <a:p xmlns:a="http://schemas.openxmlformats.org/drawingml/2006/main">
            <a:r>
              <a:t>/Users/christopher/Docker/wordpress/a2e/wp-content/themes/one-base-theme/App/Assets.php</a:t>
            </a:r>
          </a:p>
          <a:p xmlns:a="http://schemas.openxmlformats.org/drawingml/2006/main">
            <a:r>
              <a:t>/Users/christopher/Docker/wordpress/a2e/wp-content/themes/one-base-theme/App/Blocks.php</a:t>
            </a:r>
          </a:p>
          <a:p xmlns:a="http://schemas.openxmlformats.org/drawingml/2006/main">
            <a:r>
              <a:t>/Users/christopher/Docker/wordpress/a2e/wp-content/themes/one-base-theme/patterns/page/page001_homepage.php</a:t>
            </a:r>
          </a:p>
          <a:p xmlns:a="http://schemas.openxmlformats.org/drawingml/2006/main">
            <a:r>
              <a:t>/Users/christopher/Docker/wordpress/a2e/AGENTS.md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8 · Choosing the right starting point · 14:00–15:00</a:t>
            </a:r>
          </a:p>
          <a:p xmlns:a="http://schemas.openxmlformats.org/drawingml/2006/main">
            <a:r>
              <a:t/>
            </a:r>
          </a:p>
          <a:p xmlns:a="http://schemas.openxmlformats.org/drawingml/2006/main">
            <a:r>
              <a:t>Say:</a:t>
            </a:r>
          </a:p>
          <a:p xmlns:a="http://schemas.openxmlformats.org/drawingml/2006/main">
            <a:r>
              <a:t/>
            </a:r>
          </a:p>
          <a:p xmlns:a="http://schemas.openxmlformats.org/drawingml/2006/main">
            <a:r>
              <a:t>“When you build the next page, look for an existing pattern first. Edit its content and use the style choices we have provided. If the arrangement needs to change, check whether the existing blocks can do it. A new custom block makes sense when we need a new kind of control, reusable behaviour or data integration.</a:t>
            </a:r>
          </a:p>
          <a:p xmlns:a="http://schemas.openxmlformats.org/drawingml/2006/main">
            <a:r>
              <a:t/>
            </a:r>
          </a:p>
          <a:p xmlns:a="http://schemas.openxmlformats.org/drawingml/2006/main">
            <a:r>
              <a:t>“Before changing anything shared, decide whether the change belongs to one page, to a shared section, or to the whole site. Then save, reopen and preview it.</a:t>
            </a:r>
          </a:p>
          <a:p xmlns:a="http://schemas.openxmlformats.org/drawingml/2006/main">
            <a:r>
              <a:t/>
            </a:r>
          </a:p>
          <a:p xmlns:a="http://schemas.openxmlformats.org/drawingml/2006/main">
            <a:r>
              <a:t>“The result we’re aiming for is less repeated implementation and more consistent editing, with development work focused on the parts that actually need it.</a:t>
            </a:r>
          </a:p>
          <a:p xmlns:a="http://schemas.openxmlformats.org/drawingml/2006/main">
            <a:r>
              <a:t/>
            </a:r>
          </a:p>
          <a:p xmlns:a="http://schemas.openxmlformats.org/drawingml/2006/main">
            <a:r>
              <a:t>“What’s a page change you currently ask a developer to make? Let’s use that to work out which part of this system would handle it.”</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/Users/christopher/Docker/wordpress/a2e/wp-content/themes/one-base-theme/patterns/README.md</a:t>
            </a:r>
          </a:p>
          <a:p xmlns:a="http://schemas.openxmlformats.org/drawingml/2006/main">
            <a:r>
              <a:t>/Users/christopher/.codex/skills/wordpress-site-build/references/architecture-patterns.md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5d5a36e95a41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36edcf62fd48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ba451e29ec4d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90048ce48b41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f37dc3528d41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5e90c8db434b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7BBE35-BF0F-4AFC-9787-788CA82FD7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E13071-E2C7-4980-9D5B-3FFC9801EF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DA8064-9E8A-4ECA-BC8D-C1A1221FBD7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76A8BD-E56D-4A11-9843-BE04FC94F2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B274CE-D6BB-4B7E-9199-8CE7C7A756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04AEEC-84F6-4BDF-BFC1-42B32F02C7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277235-5B69-48C2-B1E8-9283B60EF4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774947-1DF5-4F9A-99D7-7877DBEC7F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7A9454-2805-452E-BE1D-0B0B587148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BC79F8-2CFA-487B-A11B-6864ACE6F7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bf75fd4c6c444a" /><Relationship Type="http://schemas.openxmlformats.org/officeDocument/2006/relationships/slideLayout" Target="/ppt/slideLayouts/slideLayout1.xml" Id="Rfc03cd64e08f4086" /><Relationship Type="http://schemas.openxmlformats.org/officeDocument/2006/relationships/slideLayout" Target="/ppt/slideLayouts/slideLayout2.xml" Id="R19f659ea6d524ed0" /><Relationship Type="http://schemas.openxmlformats.org/officeDocument/2006/relationships/slideLayout" Target="/ppt/slideLayouts/slideLayout3.xml" Id="Rae1185b557994308" /><Relationship Type="http://schemas.openxmlformats.org/officeDocument/2006/relationships/slideLayout" Target="/ppt/slideLayouts/slideLayout4.xml" Id="R34039f46f5ef41b7" /><Relationship Type="http://schemas.openxmlformats.org/officeDocument/2006/relationships/slideLayout" Target="/ppt/slideLayouts/slideLayout5.xml" Id="R8fd75b31a34048b2" /><Relationship Type="http://schemas.openxmlformats.org/officeDocument/2006/relationships/slideLayout" Target="/ppt/slideLayouts/slideLayout6.xml" Id="R8e1b430cf24548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03cd64e08f4086"/>
    <p:sldLayoutId xmlns:r="http://schemas.openxmlformats.org/officeDocument/2006/relationships" id="2147483650" r:id="R19f659ea6d524ed0"/>
    <p:sldLayoutId xmlns:r="http://schemas.openxmlformats.org/officeDocument/2006/relationships" id="2147483651" r:id="Rae1185b557994308"/>
    <p:sldLayoutId xmlns:r="http://schemas.openxmlformats.org/officeDocument/2006/relationships" id="2147483652" r:id="R34039f46f5ef41b7"/>
    <p:sldLayoutId xmlns:r="http://schemas.openxmlformats.org/officeDocument/2006/relationships" id="2147483653" r:id="R8fd75b31a34048b2"/>
    <p:sldLayoutId xmlns:r="http://schemas.openxmlformats.org/officeDocument/2006/relationships" id="2147483654" r:id="R8e1b430cf24548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0736668d074f99" /><Relationship Type="http://schemas.openxmlformats.org/officeDocument/2006/relationships/notesSlide" Target="/ppt/notesSlides/notesSlide1.xml" Id="Rd975e31fef334c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3c25c6bbcf4ab0" /><Relationship Type="http://schemas.openxmlformats.org/officeDocument/2006/relationships/notesSlide" Target="/ppt/notesSlides/notesSlide2.xml" Id="R65626cc622cd4e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125334128c4cda" /><Relationship Type="http://schemas.openxmlformats.org/officeDocument/2006/relationships/notesSlide" Target="/ppt/notesSlides/notesSlide3.xml" Id="Rab4389a7630648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df82d70f324532" /><Relationship Type="http://schemas.openxmlformats.org/officeDocument/2006/relationships/notesSlide" Target="/ppt/notesSlides/notesSlide4.xml" Id="R9106ae44727542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5d4b9da9c249f1" /><Relationship Type="http://schemas.openxmlformats.org/officeDocument/2006/relationships/notesSlide" Target="/ppt/notesSlides/notesSlide5.xml" Id="R13d9ef28e11548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03923435ef4662" /><Relationship Type="http://schemas.openxmlformats.org/officeDocument/2006/relationships/notesSlide" Target="/ppt/notesSlides/notesSlide6.xml" Id="R85d1fb92272644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b010d70cee4d3d" /><Relationship Type="http://schemas.openxmlformats.org/officeDocument/2006/relationships/notesSlide" Target="/ppt/notesSlides/notesSlide7.xml" Id="R81987999862d4d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ec31f06233d4fff" /><Relationship Type="http://schemas.openxmlformats.org/officeDocument/2006/relationships/notesSlide" Target="/ppt/notesSlides/notesSlide8.xml" Id="R5145034e7a2945c3" /></Relationships>
</file>

<file path=ppt/slides/slide1.xml><?xml version="1.0" encoding="utf-8"?>
<p:sld xmlns:p="http://schemas.openxmlformats.org/presentationml/2006/main">
  <p:cSld>
    <p:bg>
      <p:bgPr>
        <a:solidFill xmlns:a="http://schemas.openxmlformats.org/drawingml/2006/main">
          <a:srgbClr val="02495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77AE1C-D2ED-46FF-984C-633B37A20945}"/>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CCF"/>
                </a:solidFill>
                <a:latin typeface="Helvetica Neue"/>
                <a:ea typeface="Helvetica Neue"/>
                <a:cs typeface="Helvetica Neue"/>
              </a:defRPr>
            </a:defPPr>
          </a:lstStyle>
          <a:p xmlns:a="http://schemas.openxmlformats.org/drawingml/2006/main">
            <a:pPr>
              <a:defRPr sz="1350" b="0">
                <a:solidFill>
                  <a:srgbClr val="B7CCCF"/>
                </a:solidFill>
                <a:latin typeface="Helvetica Neue"/>
                <a:ea typeface="Helvetica Neue"/>
                <a:cs typeface="Helvetica Neue"/>
              </a:defRPr>
            </a:pPr>
            <a:r>
              <a:rPr sz="1350" b="0">
                <a:solidFill>
                  <a:srgbClr val="B7CCCF"/>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6C71AB93-F110-45D2-90E9-D8820694934C}"/>
              </a:ext>
            </a:extLst>
          </p:cNvPr>
          <p:cNvSpPr>
            <a:spLocks xmlns:a="http://schemas.openxmlformats.org/drawingml/2006/main" noGrp="1"/>
          </p:cNvSpPr>
          <p:nvPr/>
        </p:nvSpPr>
        <p:spPr>
          <a:xfrm xmlns:a="http://schemas.openxmlformats.org/drawingml/2006/main">
            <a:off x="685800" y="15716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FFFFFF"/>
                </a:solidFill>
                <a:latin typeface="Helvetica Neue"/>
                <a:ea typeface="Helvetica Neue"/>
                <a:cs typeface="Helvetica Neue"/>
              </a:defRPr>
            </a:defPPr>
          </a:lstStyle>
          <a:p xmlns:a="http://schemas.openxmlformats.org/drawingml/2006/main">
            <a:pPr>
              <a:defRPr sz="7050" b="1">
                <a:solidFill>
                  <a:srgbClr val="FFFFFF"/>
                </a:solidFill>
                <a:latin typeface="Helvetica Neue"/>
                <a:ea typeface="Helvetica Neue"/>
                <a:cs typeface="Helvetica Neue"/>
              </a:defRPr>
            </a:pPr>
            <a:r>
              <a:rPr sz="7050" b="1">
                <a:solidFill>
                  <a:srgbClr val="FFFFFF"/>
                </a:solidFill>
                <a:latin typeface="Helvetica Neue"/>
                <a:ea typeface="Helvetica Neue"/>
                <a:cs typeface="Helvetica Neue"/>
              </a:rPr>
              <a:t>One Base</a:t>
            </a:r>
          </a:p>
        </p:txBody>
      </p:sp>
      <p:sp>
        <p:nvSpPr>
          <p:cNvPr id="3" name="">
            <a:extLst xmlns:a="http://schemas.openxmlformats.org/drawingml/2006/main">
              <a:ext uri="{FF2B5EF4-FFF2-40B4-BE49-F238E27FC236}">
                <a16:creationId xmlns:a16="http://schemas.microsoft.com/office/drawing/2014/main" id="{3CE8AA93-D42C-47C0-939A-3648EAC2DEFE}"/>
              </a:ext>
            </a:extLst>
          </p:cNvPr>
          <p:cNvSpPr>
            <a:spLocks xmlns:a="http://schemas.openxmlformats.org/drawingml/2006/main" noGrp="1"/>
          </p:cNvSpPr>
          <p:nvPr/>
        </p:nvSpPr>
        <p:spPr>
          <a:xfrm xmlns:a="http://schemas.openxmlformats.org/drawingml/2006/main">
            <a:off x="723900" y="2971800"/>
            <a:ext cx="1000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0">
                <a:solidFill>
                  <a:srgbClr val="FFFFFF"/>
                </a:solidFill>
                <a:latin typeface="Helvetica Neue"/>
                <a:ea typeface="Helvetica Neue"/>
                <a:cs typeface="Helvetica Neue"/>
              </a:defRPr>
            </a:defPPr>
          </a:lstStyle>
          <a:p xmlns:a="http://schemas.openxmlformats.org/drawingml/2006/main">
            <a:pPr>
              <a:defRPr sz="3750" b="0">
                <a:solidFill>
                  <a:srgbClr val="FFFFFF"/>
                </a:solidFill>
                <a:latin typeface="Helvetica Neue"/>
                <a:ea typeface="Helvetica Neue"/>
                <a:cs typeface="Helvetica Neue"/>
              </a:defRPr>
            </a:pPr>
            <a:r>
              <a:rPr sz="3750" b="0">
                <a:solidFill>
                  <a:srgbClr val="FFFFFF"/>
                </a:solidFill>
                <a:latin typeface="Helvetica Neue"/>
                <a:ea typeface="Helvetica Neue"/>
                <a:cs typeface="Helvetica Neue"/>
              </a:rPr>
              <a:t>How we build and edit</a:t>
            </a:r>
          </a:p>
          <a:p xmlns:a="http://schemas.openxmlformats.org/drawingml/2006/main">
            <a:pPr>
              <a:defRPr sz="3750" b="0">
                <a:solidFill>
                  <a:srgbClr val="FFFFFF"/>
                </a:solidFill>
                <a:latin typeface="Helvetica Neue"/>
                <a:ea typeface="Helvetica Neue"/>
                <a:cs typeface="Helvetica Neue"/>
              </a:defRPr>
            </a:pPr>
            <a:r>
              <a:rPr sz="3750" b="0">
                <a:solidFill>
                  <a:srgbClr val="FFFFFF"/>
                </a:solidFill>
                <a:latin typeface="Helvetica Neue"/>
                <a:ea typeface="Helvetica Neue"/>
                <a:cs typeface="Helvetica Neue"/>
              </a:rPr>
              <a:t>WordPress websites</a:t>
            </a:r>
          </a:p>
        </p:txBody>
      </p:sp>
      <p:sp>
        <p:nvSpPr>
          <p:cNvPr id="4" name="">
            <a:extLst xmlns:a="http://schemas.openxmlformats.org/drawingml/2006/main">
              <a:ext uri="{FF2B5EF4-FFF2-40B4-BE49-F238E27FC236}">
                <a16:creationId xmlns:a16="http://schemas.microsoft.com/office/drawing/2014/main" id="{BAB0F037-C613-459F-B5D2-54E464FC3473}"/>
              </a:ext>
            </a:extLst>
          </p:cNvPr>
          <p:cNvSpPr>
            <a:spLocks xmlns:a="http://schemas.openxmlformats.org/drawingml/2006/main" noGrp="1"/>
          </p:cNvSpPr>
          <p:nvPr/>
        </p:nvSpPr>
        <p:spPr>
          <a:xfrm xmlns:a="http://schemas.openxmlformats.org/drawingml/2006/main">
            <a:off x="723900" y="53244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7CCCF"/>
                </a:solidFill>
                <a:latin typeface="Helvetica Neue"/>
                <a:ea typeface="Helvetica Neue"/>
                <a:cs typeface="Helvetica Neue"/>
              </a:defRPr>
            </a:defPPr>
          </a:lstStyle>
          <a:p xmlns:a="http://schemas.openxmlformats.org/drawingml/2006/main">
            <a:pPr>
              <a:defRPr sz="2025" b="0">
                <a:solidFill>
                  <a:srgbClr val="B7CCCF"/>
                </a:solidFill>
                <a:latin typeface="Helvetica Neue"/>
                <a:ea typeface="Helvetica Neue"/>
                <a:cs typeface="Helvetica Neue"/>
              </a:defRPr>
            </a:pPr>
            <a:r>
              <a:rPr sz="2025" b="0">
                <a:solidFill>
                  <a:srgbClr val="B7CCCF"/>
                </a:solidFill>
                <a:latin typeface="Helvetica Neue"/>
                <a:ea typeface="Helvetica Neue"/>
                <a:cs typeface="Helvetica Neue"/>
              </a:rPr>
              <a:t>A2E walkthrough · 15 minutes + questions</a:t>
            </a:r>
          </a:p>
        </p:txBody>
      </p:sp>
    </p:spTree>
    <p:extLst>
      <p:ext uri="{BB962C8B-B14F-4D97-AF65-F5344CB8AC3E}">
        <p14:creationId xmlns:p14="http://schemas.microsoft.com/office/powerpoint/2010/main" val="1526305783"/>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64D6D0-DC9C-4239-96A0-746BD4514B0F}"/>
              </a:ext>
            </a:extLst>
          </p:cNvPr>
          <p:cNvSpPr>
            <a:spLocks xmlns:a="http://schemas.openxmlformats.org/drawingml/2006/main" noGrp="1"/>
          </p:cNvSpPr>
          <p:nvPr/>
        </p:nvSpPr>
        <p:spPr>
          <a:xfrm xmlns:a="http://schemas.openxmlformats.org/drawingml/2006/main">
            <a:off x="685800" y="552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24959"/>
                </a:solidFill>
                <a:latin typeface="Helvetica Neue"/>
                <a:ea typeface="Helvetica Neue"/>
                <a:cs typeface="Helvetica Neue"/>
              </a:defRPr>
            </a:defPPr>
          </a:lstStyle>
          <a:p xmlns:a="http://schemas.openxmlformats.org/drawingml/2006/main">
            <a:pPr>
              <a:defRPr sz="3900" b="1">
                <a:solidFill>
                  <a:srgbClr val="024959"/>
                </a:solidFill>
                <a:latin typeface="Helvetica Neue"/>
                <a:ea typeface="Helvetica Neue"/>
                <a:cs typeface="Helvetica Neue"/>
              </a:defRPr>
            </a:pPr>
            <a:r>
              <a:rPr sz="3900" b="1">
                <a:solidFill>
                  <a:srgbClr val="024959"/>
                </a:solidFill>
                <a:latin typeface="Helvetica Neue"/>
                <a:ea typeface="Helvetica Neue"/>
                <a:cs typeface="Helvetica Neue"/>
              </a:rPr>
              <a:t>What has changed</a:t>
            </a:r>
          </a:p>
        </p:txBody>
      </p:sp>
      <p:sp>
        <p:nvSpPr>
          <p:cNvPr id="2" name="">
            <a:extLst xmlns:a="http://schemas.openxmlformats.org/drawingml/2006/main">
              <a:ext uri="{FF2B5EF4-FFF2-40B4-BE49-F238E27FC236}">
                <a16:creationId xmlns:a16="http://schemas.microsoft.com/office/drawing/2014/main" id="{C8FFB245-4B4F-4A57-AC70-DAA74A198640}"/>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368"/>
                </a:solidFill>
                <a:latin typeface="Helvetica Neue"/>
                <a:ea typeface="Helvetica Neue"/>
                <a:cs typeface="Helvetica Neue"/>
              </a:defRPr>
            </a:defPPr>
          </a:lstStyle>
          <a:p xmlns:a="http://schemas.openxmlformats.org/drawingml/2006/main">
            <a:pPr>
              <a:defRPr sz="1350" b="0">
                <a:solidFill>
                  <a:srgbClr val="4C6368"/>
                </a:solidFill>
                <a:latin typeface="Helvetica Neue"/>
                <a:ea typeface="Helvetica Neue"/>
                <a:cs typeface="Helvetica Neue"/>
              </a:defRPr>
            </a:pPr>
            <a:r>
              <a:rPr sz="1350" b="0">
                <a:solidFill>
                  <a:srgbClr val="4C6368"/>
                </a:solidFill>
                <a:latin typeface="Helvetica Neue"/>
                <a:ea typeface="Helvetica Neue"/>
                <a:cs typeface="Helvetica Neue"/>
              </a:rPr>
              <a:t>02</a:t>
            </a:r>
          </a:p>
        </p:txBody>
      </p:sp>
      <p:graphicFrame>
        <p:nvGraphicFramePr>
          <p:cNvPr id="3" name="">
            <a:extLst xmlns:a="http://schemas.openxmlformats.org/drawingml/2006/main">
              <a:ext uri="{FF2B5EF4-FFF2-40B4-BE49-F238E27FC236}">
                <a16:creationId xmlns:a16="http://schemas.microsoft.com/office/drawing/2014/main" id="{E2D421C4-31DD-4A05-A7F1-A6729227522B}"/>
              </a:ext>
            </a:extLst>
          </p:cNvPr>
          <p:cNvGraphicFramePr/>
          <p:nvPr/>
        </p:nvGraphicFramePr>
        <p:xfrm>
          <a:off xmlns:a="http://schemas.openxmlformats.org/drawingml/2006/main" x="685800" y="1771650"/>
          <a:ext xmlns:a="http://schemas.openxmlformats.org/drawingml/2006/main" cx="10820400" cy="3695700"/>
        </p:xfrm>
        <a:graphic xmlns:a="http://schemas.openxmlformats.org/drawingml/2006/main">
          <a:graphicData uri="http://schemas.openxmlformats.org/drawingml/2006/table">
            <a:tbl>
              <a:tblPr/>
              <a:tblGrid>
                <a:gridCol w="2095500"/>
                <a:gridCol w="4114800"/>
                <a:gridCol w="4610100"/>
              </a:tblGrid>
              <a:tr h="552450">
                <a:tc>
                  <a:txBody>
                    <a:bodyPr lIns="152400" tIns="133350" rIns="152400" bIns="133350"/>
                    <a:lstStyle/>
                    <a:p>
                      <a:r>
                        <a:rPr sz="1800" b="1">
                          <a:solidFill>
                            <a:srgbClr val="FFFFFF"/>
                          </a:solidFill>
                          <a:latin typeface="Helvetica Neue"/>
                          <a:ea typeface="Helvetica Neue"/>
                          <a:cs typeface="Helvetica Neue"/>
                        </a:rPr>
                        <a:t>Area</a:t>
                      </a:r>
                    </a:p>
                  </a:txBody>
                  <a:tcPr marL="91440" marR="91440" marT="45720" marB="45720" anchor="ctr">
                    <a:lnL w="9525">
                      <a:solidFill>
                        <a:srgbClr val="D3DEDE"/>
                      </a:solidFill>
                      <a:prstDash val="solid"/>
                    </a:lnL>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c>
                  <a:txBody>
                    <a:bodyPr lIns="152400" tIns="133350" rIns="152400" bIns="133350"/>
                    <a:lstStyle/>
                    <a:p>
                      <a:r>
                        <a:rPr sz="1800" b="1">
                          <a:solidFill>
                            <a:srgbClr val="FFFFFF"/>
                          </a:solidFill>
                          <a:latin typeface="Helvetica Neue"/>
                          <a:ea typeface="Helvetica Neue"/>
                          <a:cs typeface="Helvetica Neue"/>
                        </a:rPr>
                        <a:t>Older MWB / ACF</a:t>
                      </a:r>
                    </a:p>
                  </a:txBody>
                  <a:tcPr marL="91440" marR="91440" marT="45720" marB="45720" anchor="ctr">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c>
                  <a:txBody>
                    <a:bodyPr lIns="152400" tIns="133350" rIns="152400" bIns="133350"/>
                    <a:lstStyle/>
                    <a:p>
                      <a:r>
                        <a:rPr sz="1800" b="1">
                          <a:solidFill>
                            <a:srgbClr val="FFFFFF"/>
                          </a:solidFill>
                          <a:latin typeface="Helvetica Neue"/>
                          <a:ea typeface="Helvetica Neue"/>
                          <a:cs typeface="Helvetica Neue"/>
                        </a:rPr>
                        <a:t>One Base</a:t>
                      </a:r>
                    </a:p>
                  </a:txBody>
                  <a:tcPr marL="91440" marR="91440" marT="45720" marB="45720" anchor="ctr">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r>
              <a:tr h="1047750">
                <a:tc>
                  <a:txBody>
                    <a:bodyPr lIns="152400" tIns="133350" rIns="152400" bIns="133350"/>
                    <a:lstStyle/>
                    <a:p>
                      <a:r>
                        <a:rPr sz="1875" b="1">
                          <a:solidFill>
                            <a:srgbClr val="17383F"/>
                          </a:solidFill>
                          <a:latin typeface="Helvetica Neue"/>
                          <a:ea typeface="Helvetica Neue"/>
                          <a:cs typeface="Helvetica Neue"/>
                        </a:rPr>
                        <a:t>Page sections</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Custom ACF blocks</a:t>
                      </a:r>
                    </a:p>
                    <a:p>
                      <a:r>
                        <a:rPr sz="1875" b="0">
                          <a:solidFill>
                            <a:srgbClr val="17383F"/>
                          </a:solidFill>
                          <a:latin typeface="Helvetica Neue"/>
                          <a:ea typeface="Helvetica Neue"/>
                          <a:cs typeface="Helvetica Neue"/>
                        </a:rPr>
                        <a:t>with prescribed controls</a:t>
                      </a:r>
                    </a:p>
                  </a:txBody>
                  <a:tcPr marL="91440" marR="91440" marT="45720" marB="45720" anchor="ctr">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Patterns assembled from</a:t>
                      </a:r>
                    </a:p>
                    <a:p>
                      <a:r>
                        <a:rPr sz="1875" b="0">
                          <a:solidFill>
                            <a:srgbClr val="17383F"/>
                          </a:solidFill>
                          <a:latin typeface="Helvetica Neue"/>
                          <a:ea typeface="Helvetica Neue"/>
                          <a:cs typeface="Helvetica Neue"/>
                        </a:rPr>
                        <a:t>editable WordPress blocks</a:t>
                      </a:r>
                    </a:p>
                  </a:txBody>
                  <a:tcPr marL="91440" marR="91440" marT="45720" marB="45720" anchor="ctr">
                    <a:lnR w="9525">
                      <a:solidFill>
                        <a:srgbClr val="D3DEDE"/>
                      </a:solidFill>
                      <a:prstDash val="solid"/>
                    </a:lnR>
                    <a:lnB w="9525">
                      <a:solidFill>
                        <a:srgbClr val="D3DEDE"/>
                      </a:solidFill>
                      <a:prstDash val="solid"/>
                    </a:lnB>
                    <a:solidFill>
                      <a:srgbClr val="FFFFFF"/>
                    </a:solidFill>
                  </a:tcPr>
                </a:tc>
              </a:tr>
              <a:tr h="1047750">
                <a:tc>
                  <a:txBody>
                    <a:bodyPr lIns="152400" tIns="133350" rIns="152400" bIns="133350"/>
                    <a:lstStyle/>
                    <a:p>
                      <a:r>
                        <a:rPr sz="1875" b="1">
                          <a:solidFill>
                            <a:srgbClr val="17383F"/>
                          </a:solidFill>
                          <a:latin typeface="Helvetica Neue"/>
                          <a:ea typeface="Helvetica Neue"/>
                          <a:cs typeface="Helvetica Neue"/>
                        </a:rPr>
                        <a:t>Brand settings</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Theme controls and</a:t>
                      </a:r>
                    </a:p>
                    <a:p>
                      <a:r>
                        <a:rPr sz="1875" b="0">
                          <a:solidFill>
                            <a:srgbClr val="17383F"/>
                          </a:solidFill>
                          <a:latin typeface="Helvetica Neue"/>
                          <a:ea typeface="Helvetica Neue"/>
                          <a:cs typeface="Helvetica Neue"/>
                        </a:rPr>
                        <a:t>custom styling</a:t>
                      </a:r>
                    </a:p>
                  </a:txBody>
                  <a:tcPr marL="91440" marR="91440" marT="45720" marB="45720" anchor="ctr">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theme.json defaults and</a:t>
                      </a:r>
                    </a:p>
                    <a:p>
                      <a:r>
                        <a:rPr sz="1875" b="0">
                          <a:solidFill>
                            <a:srgbClr val="17383F"/>
                          </a:solidFill>
                          <a:latin typeface="Helvetica Neue"/>
                          <a:ea typeface="Helvetica Neue"/>
                          <a:cs typeface="Helvetica Neue"/>
                        </a:rPr>
                        <a:t>WordPress Styles</a:t>
                      </a:r>
                    </a:p>
                  </a:txBody>
                  <a:tcPr marL="91440" marR="91440" marT="45720" marB="45720" anchor="ctr">
                    <a:lnR w="9525">
                      <a:solidFill>
                        <a:srgbClr val="D3DEDE"/>
                      </a:solidFill>
                      <a:prstDash val="solid"/>
                    </a:lnR>
                    <a:lnB w="9525">
                      <a:solidFill>
                        <a:srgbClr val="D3DEDE"/>
                      </a:solidFill>
                      <a:prstDash val="solid"/>
                    </a:lnB>
                    <a:solidFill>
                      <a:srgbClr val="F0F3F1"/>
                    </a:solidFill>
                  </a:tcPr>
                </a:tc>
              </a:tr>
              <a:tr h="1047750">
                <a:tc>
                  <a:txBody>
                    <a:bodyPr lIns="152400" tIns="133350" rIns="152400" bIns="133350"/>
                    <a:lstStyle/>
                    <a:p>
                      <a:r>
                        <a:rPr sz="1875" b="1">
                          <a:solidFill>
                            <a:srgbClr val="17383F"/>
                          </a:solidFill>
                          <a:latin typeface="Helvetica Neue"/>
                          <a:ea typeface="Helvetica Neue"/>
                          <a:cs typeface="Helvetica Neue"/>
                        </a:rPr>
                        <a:t>Content model</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Post types registered</a:t>
                      </a:r>
                    </a:p>
                    <a:p>
                      <a:r>
                        <a:rPr sz="1875" b="0">
                          <a:solidFill>
                            <a:srgbClr val="17383F"/>
                          </a:solidFill>
                          <a:latin typeface="Helvetica Neue"/>
                          <a:ea typeface="Helvetica Neue"/>
                          <a:cs typeface="Helvetica Neue"/>
                        </a:rPr>
                        <a:t>by the theme</a:t>
                      </a:r>
                    </a:p>
                  </a:txBody>
                  <a:tcPr marL="91440" marR="91440" marT="45720" marB="45720" anchor="ctr">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Post types and fields</a:t>
                      </a:r>
                    </a:p>
                    <a:p>
                      <a:r>
                        <a:rPr sz="1875" b="0">
                          <a:solidFill>
                            <a:srgbClr val="17383F"/>
                          </a:solidFill>
                          <a:latin typeface="Helvetica Neue"/>
                          <a:ea typeface="Helvetica Neue"/>
                          <a:cs typeface="Helvetica Neue"/>
                        </a:rPr>
                        <a:t>in content MU-plugins</a:t>
                      </a:r>
                    </a:p>
                  </a:txBody>
                  <a:tcPr marL="91440" marR="91440" marT="45720" marB="45720" anchor="ctr">
                    <a:lnR w="9525">
                      <a:solidFill>
                        <a:srgbClr val="D3DEDE"/>
                      </a:solidFill>
                      <a:prstDash val="solid"/>
                    </a:lnR>
                    <a:lnB w="9525">
                      <a:solidFill>
                        <a:srgbClr val="D3DEDE"/>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916C4E8-DBB8-44C7-BF53-37188BF5E778}"/>
              </a:ext>
            </a:extLst>
          </p:cNvPr>
          <p:cNvSpPr>
            <a:spLocks xmlns:a="http://schemas.openxmlformats.org/drawingml/2006/main" noGrp="1"/>
          </p:cNvSpPr>
          <p:nvPr/>
        </p:nvSpPr>
        <p:spPr>
          <a:xfrm xmlns:a="http://schemas.openxmlformats.org/drawingml/2006/main">
            <a:off x="685800" y="58102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4C6368"/>
                </a:solidFill>
                <a:latin typeface="Helvetica Neue"/>
                <a:ea typeface="Helvetica Neue"/>
                <a:cs typeface="Helvetica Neue"/>
              </a:defRPr>
            </a:defPPr>
          </a:lstStyle>
          <a:p xmlns:a="http://schemas.openxmlformats.org/drawingml/2006/main">
            <a:pPr>
              <a:defRPr sz="1950" b="0">
                <a:solidFill>
                  <a:srgbClr val="4C6368"/>
                </a:solidFill>
                <a:latin typeface="Helvetica Neue"/>
                <a:ea typeface="Helvetica Neue"/>
                <a:cs typeface="Helvetica Neue"/>
              </a:defRPr>
            </a:pPr>
            <a:r>
              <a:rPr sz="1950" b="0">
                <a:solidFill>
                  <a:srgbClr val="4C6368"/>
                </a:solidFill>
                <a:latin typeface="Helvetica Neue"/>
                <a:ea typeface="Helvetica Neue"/>
                <a:cs typeface="Helvetica Neue"/>
              </a:rPr>
              <a:t>Both approaches already support reusable blocks and global branding.</a:t>
            </a:r>
          </a:p>
        </p:txBody>
      </p:sp>
    </p:spTree>
    <p:extLst>
      <p:ext uri="{BB962C8B-B14F-4D97-AF65-F5344CB8AC3E}">
        <p14:creationId xmlns:p14="http://schemas.microsoft.com/office/powerpoint/2010/main" val="1890938304"/>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7A0606-D114-4C4C-9789-E5963A65A79F}"/>
              </a:ext>
            </a:extLst>
          </p:cNvPr>
          <p:cNvSpPr>
            <a:spLocks xmlns:a="http://schemas.openxmlformats.org/drawingml/2006/main" noGrp="1"/>
          </p:cNvSpPr>
          <p:nvPr/>
        </p:nvSpPr>
        <p:spPr>
          <a:xfrm xmlns:a="http://schemas.openxmlformats.org/drawingml/2006/main">
            <a:off x="685800" y="552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24959"/>
                </a:solidFill>
                <a:latin typeface="Helvetica Neue"/>
                <a:ea typeface="Helvetica Neue"/>
                <a:cs typeface="Helvetica Neue"/>
              </a:defRPr>
            </a:defPPr>
          </a:lstStyle>
          <a:p xmlns:a="http://schemas.openxmlformats.org/drawingml/2006/main">
            <a:pPr>
              <a:defRPr sz="3900" b="1">
                <a:solidFill>
                  <a:srgbClr val="024959"/>
                </a:solidFill>
                <a:latin typeface="Helvetica Neue"/>
                <a:ea typeface="Helvetica Neue"/>
                <a:cs typeface="Helvetica Neue"/>
              </a:defRPr>
            </a:pPr>
            <a:r>
              <a:rPr sz="3900" b="1">
                <a:solidFill>
                  <a:srgbClr val="024959"/>
                </a:solidFill>
                <a:latin typeface="Helvetica Neue"/>
                <a:ea typeface="Helvetica Neue"/>
                <a:cs typeface="Helvetica Neue"/>
              </a:rPr>
              <a:t>Blocks, patterns and templates</a:t>
            </a:r>
          </a:p>
        </p:txBody>
      </p:sp>
      <p:sp>
        <p:nvSpPr>
          <p:cNvPr id="2" name="">
            <a:extLst xmlns:a="http://schemas.openxmlformats.org/drawingml/2006/main">
              <a:ext uri="{FF2B5EF4-FFF2-40B4-BE49-F238E27FC236}">
                <a16:creationId xmlns:a16="http://schemas.microsoft.com/office/drawing/2014/main" id="{9A10F111-CA8B-49BF-BCCA-D9C0A171BF7C}"/>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368"/>
                </a:solidFill>
                <a:latin typeface="Helvetica Neue"/>
                <a:ea typeface="Helvetica Neue"/>
                <a:cs typeface="Helvetica Neue"/>
              </a:defRPr>
            </a:defPPr>
          </a:lstStyle>
          <a:p xmlns:a="http://schemas.openxmlformats.org/drawingml/2006/main">
            <a:pPr>
              <a:defRPr sz="1350" b="0">
                <a:solidFill>
                  <a:srgbClr val="4C6368"/>
                </a:solidFill>
                <a:latin typeface="Helvetica Neue"/>
                <a:ea typeface="Helvetica Neue"/>
                <a:cs typeface="Helvetica Neue"/>
              </a:defRPr>
            </a:pPr>
            <a:r>
              <a:rPr sz="1350" b="0">
                <a:solidFill>
                  <a:srgbClr val="4C6368"/>
                </a:solidFill>
                <a:latin typeface="Helvetica Neue"/>
                <a:ea typeface="Helvetica Neue"/>
                <a:cs typeface="Helvetica Neue"/>
              </a:rPr>
              <a:t>03</a:t>
            </a:r>
          </a:p>
        </p:txBody>
      </p:sp>
      <p:graphicFrame>
        <p:nvGraphicFramePr>
          <p:cNvPr id="3" name="">
            <a:extLst xmlns:a="http://schemas.openxmlformats.org/drawingml/2006/main">
              <a:ext uri="{FF2B5EF4-FFF2-40B4-BE49-F238E27FC236}">
                <a16:creationId xmlns:a16="http://schemas.microsoft.com/office/drawing/2014/main" id="{EDCB5BCB-575B-47E7-9F3F-91497E8E7A8F}"/>
              </a:ext>
            </a:extLst>
          </p:cNvPr>
          <p:cNvGraphicFramePr/>
          <p:nvPr/>
        </p:nvGraphicFramePr>
        <p:xfrm>
          <a:off xmlns:a="http://schemas.openxmlformats.org/drawingml/2006/main" x="685800" y="1676400"/>
          <a:ext xmlns:a="http://schemas.openxmlformats.org/drawingml/2006/main" cx="10820400" cy="3990975"/>
        </p:xfrm>
        <a:graphic xmlns:a="http://schemas.openxmlformats.org/drawingml/2006/main">
          <a:graphicData uri="http://schemas.openxmlformats.org/drawingml/2006/table">
            <a:tbl>
              <a:tblPr/>
              <a:tblGrid>
                <a:gridCol w="2238375"/>
                <a:gridCol w="4381500"/>
                <a:gridCol w="4200525"/>
              </a:tblGrid>
              <a:tr h="523875">
                <a:tc>
                  <a:txBody>
                    <a:bodyPr lIns="152400" tIns="133350" rIns="152400" bIns="133350"/>
                    <a:lstStyle/>
                    <a:p>
                      <a:r>
                        <a:rPr sz="1800" b="1">
                          <a:solidFill>
                            <a:srgbClr val="FFFFFF"/>
                          </a:solidFill>
                          <a:latin typeface="Helvetica Neue"/>
                          <a:ea typeface="Helvetica Neue"/>
                          <a:cs typeface="Helvetica Neue"/>
                        </a:rPr>
                        <a:t>Piece</a:t>
                      </a:r>
                    </a:p>
                  </a:txBody>
                  <a:tcPr marL="91440" marR="91440" marT="45720" marB="45720" anchor="ctr">
                    <a:lnL w="9525">
                      <a:solidFill>
                        <a:srgbClr val="D3DEDE"/>
                      </a:solidFill>
                      <a:prstDash val="solid"/>
                    </a:lnL>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c>
                  <a:txBody>
                    <a:bodyPr lIns="152400" tIns="133350" rIns="152400" bIns="133350"/>
                    <a:lstStyle/>
                    <a:p>
                      <a:r>
                        <a:rPr sz="1800" b="1">
                          <a:solidFill>
                            <a:srgbClr val="FFFFFF"/>
                          </a:solidFill>
                          <a:latin typeface="Helvetica Neue"/>
                          <a:ea typeface="Helvetica Neue"/>
                          <a:cs typeface="Helvetica Neue"/>
                        </a:rPr>
                        <a:t>Purpose</a:t>
                      </a:r>
                    </a:p>
                  </a:txBody>
                  <a:tcPr marL="91440" marR="91440" marT="45720" marB="45720" anchor="ctr">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c>
                  <a:txBody>
                    <a:bodyPr lIns="152400" tIns="133350" rIns="152400" bIns="133350"/>
                    <a:lstStyle/>
                    <a:p>
                      <a:r>
                        <a:rPr sz="1800" b="1">
                          <a:solidFill>
                            <a:srgbClr val="FFFFFF"/>
                          </a:solidFill>
                          <a:latin typeface="Helvetica Neue"/>
                          <a:ea typeface="Helvetica Neue"/>
                          <a:cs typeface="Helvetica Neue"/>
                        </a:rPr>
                        <a:t>Example</a:t>
                      </a:r>
                    </a:p>
                  </a:txBody>
                  <a:tcPr marL="91440" marR="91440" marT="45720" marB="45720" anchor="ctr">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r>
              <a:tr h="866775">
                <a:tc>
                  <a:txBody>
                    <a:bodyPr lIns="152400" tIns="133350" rIns="152400" bIns="133350"/>
                    <a:lstStyle/>
                    <a:p>
                      <a:r>
                        <a:rPr sz="1875" b="1">
                          <a:solidFill>
                            <a:srgbClr val="17383F"/>
                          </a:solidFill>
                          <a:latin typeface="Helvetica Neue"/>
                          <a:ea typeface="Helvetica Neue"/>
                          <a:cs typeface="Helvetica Neue"/>
                        </a:rPr>
                        <a:t>Block</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Content or behaviour</a:t>
                      </a:r>
                    </a:p>
                    <a:p>
                      <a:r>
                        <a:rPr sz="1875" b="0">
                          <a:solidFill>
                            <a:srgbClr val="17383F"/>
                          </a:solidFill>
                          <a:latin typeface="Helvetica Neue"/>
                          <a:ea typeface="Helvetica Neue"/>
                          <a:cs typeface="Helvetica Neue"/>
                        </a:rPr>
                        <a:t>with its own controls</a:t>
                      </a:r>
                    </a:p>
                  </a:txBody>
                  <a:tcPr marL="91440" marR="91440" marT="45720" marB="45720" anchor="ctr">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Heading, Image, Icon Button</a:t>
                      </a:r>
                    </a:p>
                  </a:txBody>
                  <a:tcPr marL="91440" marR="91440" marT="45720" marB="45720" anchor="ctr">
                    <a:lnR w="9525">
                      <a:solidFill>
                        <a:srgbClr val="D3DEDE"/>
                      </a:solidFill>
                      <a:prstDash val="solid"/>
                    </a:lnR>
                    <a:lnB w="9525">
                      <a:solidFill>
                        <a:srgbClr val="D3DEDE"/>
                      </a:solidFill>
                      <a:prstDash val="solid"/>
                    </a:lnB>
                    <a:solidFill>
                      <a:srgbClr val="FFFFFF"/>
                    </a:solidFill>
                  </a:tcPr>
                </a:tc>
              </a:tr>
              <a:tr h="866775">
                <a:tc>
                  <a:txBody>
                    <a:bodyPr lIns="152400" tIns="133350" rIns="152400" bIns="133350"/>
                    <a:lstStyle/>
                    <a:p>
                      <a:r>
                        <a:rPr sz="1875" b="1">
                          <a:solidFill>
                            <a:srgbClr val="17383F"/>
                          </a:solidFill>
                          <a:latin typeface="Helvetica Neue"/>
                          <a:ea typeface="Helvetica Neue"/>
                          <a:cs typeface="Helvetica Neue"/>
                        </a:rPr>
                        <a:t>Pattern</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A prepared arrangement</a:t>
                      </a:r>
                    </a:p>
                    <a:p>
                      <a:r>
                        <a:rPr sz="1875" b="0">
                          <a:solidFill>
                            <a:srgbClr val="17383F"/>
                          </a:solidFill>
                          <a:latin typeface="Helvetica Neue"/>
                          <a:ea typeface="Helvetica Neue"/>
                          <a:cs typeface="Helvetica Neue"/>
                        </a:rPr>
                        <a:t>of blocks</a:t>
                      </a:r>
                    </a:p>
                  </a:txBody>
                  <a:tcPr marL="91440" marR="91440" marT="45720" marB="45720" anchor="ctr">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Call to action section</a:t>
                      </a:r>
                    </a:p>
                  </a:txBody>
                  <a:tcPr marL="91440" marR="91440" marT="45720" marB="45720" anchor="ctr">
                    <a:lnR w="9525">
                      <a:solidFill>
                        <a:srgbClr val="D3DEDE"/>
                      </a:solidFill>
                      <a:prstDash val="solid"/>
                    </a:lnR>
                    <a:lnB w="9525">
                      <a:solidFill>
                        <a:srgbClr val="D3DEDE"/>
                      </a:solidFill>
                      <a:prstDash val="solid"/>
                    </a:lnB>
                    <a:solidFill>
                      <a:srgbClr val="F0F3F1"/>
                    </a:solidFill>
                  </a:tcPr>
                </a:tc>
              </a:tr>
              <a:tr h="866775">
                <a:tc>
                  <a:txBody>
                    <a:bodyPr lIns="152400" tIns="133350" rIns="152400" bIns="133350"/>
                    <a:lstStyle/>
                    <a:p>
                      <a:r>
                        <a:rPr sz="1875" b="1">
                          <a:solidFill>
                            <a:srgbClr val="17383F"/>
                          </a:solidFill>
                          <a:latin typeface="Helvetica Neue"/>
                          <a:ea typeface="Helvetica Neue"/>
                          <a:cs typeface="Helvetica Neue"/>
                        </a:rPr>
                        <a:t>Template</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Shared page structure</a:t>
                      </a:r>
                    </a:p>
                    <a:p>
                      <a:r>
                        <a:rPr sz="1875" b="0">
                          <a:solidFill>
                            <a:srgbClr val="17383F"/>
                          </a:solidFill>
                          <a:latin typeface="Helvetica Neue"/>
                          <a:ea typeface="Helvetica Neue"/>
                          <a:cs typeface="Helvetica Neue"/>
                        </a:rPr>
                        <a:t>around the content</a:t>
                      </a:r>
                    </a:p>
                  </a:txBody>
                  <a:tcPr marL="91440" marR="91440" marT="45720" marB="45720" anchor="ctr">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Single course layout</a:t>
                      </a:r>
                    </a:p>
                  </a:txBody>
                  <a:tcPr marL="91440" marR="91440" marT="45720" marB="45720" anchor="ctr">
                    <a:lnR w="9525">
                      <a:solidFill>
                        <a:srgbClr val="D3DEDE"/>
                      </a:solidFill>
                      <a:prstDash val="solid"/>
                    </a:lnR>
                    <a:lnB w="9525">
                      <a:solidFill>
                        <a:srgbClr val="D3DEDE"/>
                      </a:solidFill>
                      <a:prstDash val="solid"/>
                    </a:lnB>
                    <a:solidFill>
                      <a:srgbClr val="FFFFFF"/>
                    </a:solidFill>
                  </a:tcPr>
                </a:tc>
              </a:tr>
              <a:tr h="866775">
                <a:tc>
                  <a:txBody>
                    <a:bodyPr lIns="152400" tIns="133350" rIns="152400" bIns="133350"/>
                    <a:lstStyle/>
                    <a:p>
                      <a:r>
                        <a:rPr sz="1875" b="1">
                          <a:solidFill>
                            <a:srgbClr val="17383F"/>
                          </a:solidFill>
                          <a:latin typeface="Helvetica Neue"/>
                          <a:ea typeface="Helvetica Neue"/>
                          <a:cs typeface="Helvetica Neue"/>
                        </a:rPr>
                        <a:t>Template part</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A shared structural area</a:t>
                      </a:r>
                    </a:p>
                  </a:txBody>
                  <a:tcPr marL="91440" marR="91440" marT="45720" marB="45720" anchor="ctr">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Header or footer</a:t>
                      </a:r>
                    </a:p>
                  </a:txBody>
                  <a:tcPr marL="91440" marR="91440" marT="45720" marB="45720" anchor="ctr">
                    <a:lnR w="9525">
                      <a:solidFill>
                        <a:srgbClr val="D3DEDE"/>
                      </a:solidFill>
                      <a:prstDash val="solid"/>
                    </a:lnR>
                    <a:lnB w="9525">
                      <a:solidFill>
                        <a:srgbClr val="D3DEDE"/>
                      </a:solidFill>
                      <a:prstDash val="solid"/>
                    </a:lnB>
                    <a:solidFill>
                      <a:srgbClr val="F0F3F1"/>
                    </a:solidFill>
                  </a:tcPr>
                </a:tc>
              </a:tr>
            </a:tbl>
          </a:graphicData>
        </a:graphic>
      </p:graphicFrame>
    </p:spTree>
    <p:extLst>
      <p:ext uri="{BB962C8B-B14F-4D97-AF65-F5344CB8AC3E}">
        <p14:creationId xmlns:p14="http://schemas.microsoft.com/office/powerpoint/2010/main" val="2056117152"/>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A20EB1-E125-4BD0-846D-761CF540B8E1}"/>
              </a:ext>
            </a:extLst>
          </p:cNvPr>
          <p:cNvSpPr>
            <a:spLocks xmlns:a="http://schemas.openxmlformats.org/drawingml/2006/main" noGrp="1"/>
          </p:cNvSpPr>
          <p:nvPr/>
        </p:nvSpPr>
        <p:spPr>
          <a:xfrm xmlns:a="http://schemas.openxmlformats.org/drawingml/2006/main">
            <a:off x="685800" y="552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24959"/>
                </a:solidFill>
                <a:latin typeface="Helvetica Neue"/>
                <a:ea typeface="Helvetica Neue"/>
                <a:cs typeface="Helvetica Neue"/>
              </a:defRPr>
            </a:defPPr>
          </a:lstStyle>
          <a:p xmlns:a="http://schemas.openxmlformats.org/drawingml/2006/main">
            <a:pPr>
              <a:defRPr sz="3900" b="1">
                <a:solidFill>
                  <a:srgbClr val="024959"/>
                </a:solidFill>
                <a:latin typeface="Helvetica Neue"/>
                <a:ea typeface="Helvetica Neue"/>
                <a:cs typeface="Helvetica Neue"/>
              </a:defRPr>
            </a:pPr>
            <a:r>
              <a:rPr sz="3900" b="1">
                <a:solidFill>
                  <a:srgbClr val="024959"/>
                </a:solidFill>
                <a:latin typeface="Helvetica Neue"/>
                <a:ea typeface="Helvetica Neue"/>
                <a:cs typeface="Helvetica Neue"/>
              </a:rPr>
              <a:t>Building a section</a:t>
            </a:r>
          </a:p>
        </p:txBody>
      </p:sp>
      <p:sp>
        <p:nvSpPr>
          <p:cNvPr id="2" name="">
            <a:extLst xmlns:a="http://schemas.openxmlformats.org/drawingml/2006/main">
              <a:ext uri="{FF2B5EF4-FFF2-40B4-BE49-F238E27FC236}">
                <a16:creationId xmlns:a16="http://schemas.microsoft.com/office/drawing/2014/main" id="{45BED82C-F4F4-44D6-90B3-AC2CBB797B9F}"/>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368"/>
                </a:solidFill>
                <a:latin typeface="Helvetica Neue"/>
                <a:ea typeface="Helvetica Neue"/>
                <a:cs typeface="Helvetica Neue"/>
              </a:defRPr>
            </a:defPPr>
          </a:lstStyle>
          <a:p xmlns:a="http://schemas.openxmlformats.org/drawingml/2006/main">
            <a:pPr>
              <a:defRPr sz="1350" b="0">
                <a:solidFill>
                  <a:srgbClr val="4C6368"/>
                </a:solidFill>
                <a:latin typeface="Helvetica Neue"/>
                <a:ea typeface="Helvetica Neue"/>
                <a:cs typeface="Helvetica Neue"/>
              </a:defRPr>
            </a:pPr>
            <a:r>
              <a:rPr sz="1350" b="0">
                <a:solidFill>
                  <a:srgbClr val="4C6368"/>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5AE67C54-8E70-4AB6-B6AC-5CDCC6CBB4D2}"/>
              </a:ext>
            </a:extLst>
          </p:cNvPr>
          <p:cNvSpPr>
            <a:spLocks xmlns:a="http://schemas.openxmlformats.org/drawingml/2006/main" noGrp="1"/>
          </p:cNvSpPr>
          <p:nvPr/>
        </p:nvSpPr>
        <p:spPr>
          <a:xfrm xmlns:a="http://schemas.openxmlformats.org/drawingml/2006/main">
            <a:off x="685800" y="17907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24530"/>
                </a:solidFill>
                <a:latin typeface="Helvetica Neue"/>
                <a:ea typeface="Helvetica Neue"/>
                <a:cs typeface="Helvetica Neue"/>
              </a:defRPr>
            </a:defPPr>
          </a:lstStyle>
          <a:p xmlns:a="http://schemas.openxmlformats.org/drawingml/2006/main">
            <a:pPr>
              <a:defRPr sz="2700" b="1">
                <a:solidFill>
                  <a:srgbClr val="F24530"/>
                </a:solidFill>
                <a:latin typeface="Helvetica Neue"/>
                <a:ea typeface="Helvetica Neue"/>
                <a:cs typeface="Helvetica Neue"/>
              </a:defRPr>
            </a:pPr>
            <a:r>
              <a:rPr sz="2700" b="1">
                <a:solidFill>
                  <a:srgbClr val="F2453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ED7E31DF-7D99-483A-B501-3FAB92E36EFB}"/>
              </a:ext>
            </a:extLst>
          </p:cNvPr>
          <p:cNvSpPr>
            <a:spLocks xmlns:a="http://schemas.openxmlformats.org/drawingml/2006/main" noGrp="1"/>
          </p:cNvSpPr>
          <p:nvPr/>
        </p:nvSpPr>
        <p:spPr>
          <a:xfrm xmlns:a="http://schemas.openxmlformats.org/drawingml/2006/main">
            <a:off x="1704975" y="1790700"/>
            <a:ext cx="942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24959"/>
                </a:solidFill>
                <a:latin typeface="Helvetica Neue"/>
                <a:ea typeface="Helvetica Neue"/>
                <a:cs typeface="Helvetica Neue"/>
              </a:defRPr>
            </a:defPPr>
          </a:lstStyle>
          <a:p xmlns:a="http://schemas.openxmlformats.org/drawingml/2006/main">
            <a:pPr>
              <a:defRPr sz="2475" b="1">
                <a:solidFill>
                  <a:srgbClr val="024959"/>
                </a:solidFill>
                <a:latin typeface="Helvetica Neue"/>
                <a:ea typeface="Helvetica Neue"/>
                <a:cs typeface="Helvetica Neue"/>
              </a:defRPr>
            </a:pPr>
            <a:r>
              <a:rPr sz="2475" b="1">
                <a:solidFill>
                  <a:srgbClr val="024959"/>
                </a:solidFill>
                <a:latin typeface="Helvetica Neue"/>
                <a:ea typeface="Helvetica Neue"/>
                <a:cs typeface="Helvetica Neue"/>
              </a:rPr>
              <a:t>Insert the pattern</a:t>
            </a:r>
          </a:p>
        </p:txBody>
      </p:sp>
      <p:sp>
        <p:nvSpPr>
          <p:cNvPr id="5" name="">
            <a:extLst xmlns:a="http://schemas.openxmlformats.org/drawingml/2006/main">
              <a:ext uri="{FF2B5EF4-FFF2-40B4-BE49-F238E27FC236}">
                <a16:creationId xmlns:a16="http://schemas.microsoft.com/office/drawing/2014/main" id="{B35B7163-F79A-4336-ABA9-69D4237D6BF9}"/>
              </a:ext>
            </a:extLst>
          </p:cNvPr>
          <p:cNvSpPr>
            <a:spLocks xmlns:a="http://schemas.openxmlformats.org/drawingml/2006/main" noGrp="1"/>
          </p:cNvSpPr>
          <p:nvPr/>
        </p:nvSpPr>
        <p:spPr>
          <a:xfrm xmlns:a="http://schemas.openxmlformats.org/drawingml/2006/main">
            <a:off x="1704975" y="2247900"/>
            <a:ext cx="942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C6368"/>
                </a:solidFill>
                <a:latin typeface="Helvetica Neue"/>
                <a:ea typeface="Helvetica Neue"/>
                <a:cs typeface="Helvetica Neue"/>
              </a:defRPr>
            </a:defPPr>
          </a:lstStyle>
          <a:p xmlns:a="http://schemas.openxmlformats.org/drawingml/2006/main">
            <a:pPr>
              <a:defRPr sz="2025" b="0">
                <a:solidFill>
                  <a:srgbClr val="4C6368"/>
                </a:solidFill>
                <a:latin typeface="Helvetica Neue"/>
                <a:ea typeface="Helvetica Neue"/>
                <a:cs typeface="Helvetica Neue"/>
              </a:defRPr>
            </a:pPr>
            <a:r>
              <a:rPr sz="2025" b="0">
                <a:solidFill>
                  <a:srgbClr val="4C6368"/>
                </a:solidFill>
                <a:latin typeface="Helvetica Neue"/>
                <a:ea typeface="Helvetica Neue"/>
                <a:cs typeface="Helvetica Neue"/>
              </a:rPr>
              <a:t>A2E: Call to action — centred panel</a:t>
            </a:r>
          </a:p>
        </p:txBody>
      </p:sp>
      <p:sp>
        <p:nvSpPr>
          <p:cNvPr id="6" name="">
            <a:extLst xmlns:a="http://schemas.openxmlformats.org/drawingml/2006/main">
              <a:ext uri="{FF2B5EF4-FFF2-40B4-BE49-F238E27FC236}">
                <a16:creationId xmlns:a16="http://schemas.microsoft.com/office/drawing/2014/main" id="{4ACCBF65-0117-4929-BB57-D502C1B525D6}"/>
              </a:ext>
            </a:extLst>
          </p:cNvPr>
          <p:cNvSpPr>
            <a:spLocks xmlns:a="http://schemas.openxmlformats.org/drawingml/2006/main" noGrp="1"/>
          </p:cNvSpPr>
          <p:nvPr/>
        </p:nvSpPr>
        <p:spPr>
          <a:xfrm xmlns:a="http://schemas.openxmlformats.org/drawingml/2006/main">
            <a:off x="685800" y="27908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24530"/>
                </a:solidFill>
                <a:latin typeface="Helvetica Neue"/>
                <a:ea typeface="Helvetica Neue"/>
                <a:cs typeface="Helvetica Neue"/>
              </a:defRPr>
            </a:defPPr>
          </a:lstStyle>
          <a:p xmlns:a="http://schemas.openxmlformats.org/drawingml/2006/main">
            <a:pPr>
              <a:defRPr sz="2700" b="1">
                <a:solidFill>
                  <a:srgbClr val="F24530"/>
                </a:solidFill>
                <a:latin typeface="Helvetica Neue"/>
                <a:ea typeface="Helvetica Neue"/>
                <a:cs typeface="Helvetica Neue"/>
              </a:defRPr>
            </a:pPr>
            <a:r>
              <a:rPr sz="2700" b="1">
                <a:solidFill>
                  <a:srgbClr val="F24530"/>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8DA6EB32-54B3-4155-BEBE-69B099E41C50}"/>
              </a:ext>
            </a:extLst>
          </p:cNvPr>
          <p:cNvSpPr>
            <a:spLocks xmlns:a="http://schemas.openxmlformats.org/drawingml/2006/main" noGrp="1"/>
          </p:cNvSpPr>
          <p:nvPr/>
        </p:nvSpPr>
        <p:spPr>
          <a:xfrm xmlns:a="http://schemas.openxmlformats.org/drawingml/2006/main">
            <a:off x="1704975" y="2790825"/>
            <a:ext cx="942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24959"/>
                </a:solidFill>
                <a:latin typeface="Helvetica Neue"/>
                <a:ea typeface="Helvetica Neue"/>
                <a:cs typeface="Helvetica Neue"/>
              </a:defRPr>
            </a:defPPr>
          </a:lstStyle>
          <a:p xmlns:a="http://schemas.openxmlformats.org/drawingml/2006/main">
            <a:pPr>
              <a:defRPr sz="2475" b="1">
                <a:solidFill>
                  <a:srgbClr val="024959"/>
                </a:solidFill>
                <a:latin typeface="Helvetica Neue"/>
                <a:ea typeface="Helvetica Neue"/>
                <a:cs typeface="Helvetica Neue"/>
              </a:defRPr>
            </a:pPr>
            <a:r>
              <a:rPr sz="2475" b="1">
                <a:solidFill>
                  <a:srgbClr val="024959"/>
                </a:solidFill>
                <a:latin typeface="Helvetica Neue"/>
                <a:ea typeface="Helvetica Neue"/>
                <a:cs typeface="Helvetica Neue"/>
              </a:rPr>
              <a:t>Edit the blocks</a:t>
            </a:r>
          </a:p>
        </p:txBody>
      </p:sp>
      <p:sp>
        <p:nvSpPr>
          <p:cNvPr id="8" name="">
            <a:extLst xmlns:a="http://schemas.openxmlformats.org/drawingml/2006/main">
              <a:ext uri="{FF2B5EF4-FFF2-40B4-BE49-F238E27FC236}">
                <a16:creationId xmlns:a16="http://schemas.microsoft.com/office/drawing/2014/main" id="{C9DB42B6-F21A-401A-8C98-90060FCA06F0}"/>
              </a:ext>
            </a:extLst>
          </p:cNvPr>
          <p:cNvSpPr>
            <a:spLocks xmlns:a="http://schemas.openxmlformats.org/drawingml/2006/main" noGrp="1"/>
          </p:cNvSpPr>
          <p:nvPr/>
        </p:nvSpPr>
        <p:spPr>
          <a:xfrm xmlns:a="http://schemas.openxmlformats.org/drawingml/2006/main">
            <a:off x="1704975" y="3248025"/>
            <a:ext cx="942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C6368"/>
                </a:solidFill>
                <a:latin typeface="Helvetica Neue"/>
                <a:ea typeface="Helvetica Neue"/>
                <a:cs typeface="Helvetica Neue"/>
              </a:defRPr>
            </a:defPPr>
          </a:lstStyle>
          <a:p xmlns:a="http://schemas.openxmlformats.org/drawingml/2006/main">
            <a:pPr>
              <a:defRPr sz="2025" b="0">
                <a:solidFill>
                  <a:srgbClr val="4C6368"/>
                </a:solidFill>
                <a:latin typeface="Helvetica Neue"/>
                <a:ea typeface="Helvetica Neue"/>
                <a:cs typeface="Helvetica Neue"/>
              </a:defRPr>
            </a:pPr>
            <a:r>
              <a:rPr sz="2025" b="0">
                <a:solidFill>
                  <a:srgbClr val="4C6368"/>
                </a:solidFill>
                <a:latin typeface="Helvetica Neue"/>
                <a:ea typeface="Helvetica Neue"/>
                <a:cs typeface="Helvetica Neue"/>
              </a:rPr>
              <a:t>Heading, supporting copy and button link</a:t>
            </a:r>
          </a:p>
        </p:txBody>
      </p:sp>
      <p:sp>
        <p:nvSpPr>
          <p:cNvPr id="9" name="">
            <a:extLst xmlns:a="http://schemas.openxmlformats.org/drawingml/2006/main">
              <a:ext uri="{FF2B5EF4-FFF2-40B4-BE49-F238E27FC236}">
                <a16:creationId xmlns:a16="http://schemas.microsoft.com/office/drawing/2014/main" id="{5EFC65AF-DEAD-4AB6-A826-1325D599DAC7}"/>
              </a:ext>
            </a:extLst>
          </p:cNvPr>
          <p:cNvSpPr>
            <a:spLocks xmlns:a="http://schemas.openxmlformats.org/drawingml/2006/main" noGrp="1"/>
          </p:cNvSpPr>
          <p:nvPr/>
        </p:nvSpPr>
        <p:spPr>
          <a:xfrm xmlns:a="http://schemas.openxmlformats.org/drawingml/2006/main">
            <a:off x="685800" y="3790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24530"/>
                </a:solidFill>
                <a:latin typeface="Helvetica Neue"/>
                <a:ea typeface="Helvetica Neue"/>
                <a:cs typeface="Helvetica Neue"/>
              </a:defRPr>
            </a:defPPr>
          </a:lstStyle>
          <a:p xmlns:a="http://schemas.openxmlformats.org/drawingml/2006/main">
            <a:pPr>
              <a:defRPr sz="2700" b="1">
                <a:solidFill>
                  <a:srgbClr val="F24530"/>
                </a:solidFill>
                <a:latin typeface="Helvetica Neue"/>
                <a:ea typeface="Helvetica Neue"/>
                <a:cs typeface="Helvetica Neue"/>
              </a:defRPr>
            </a:pPr>
            <a:r>
              <a:rPr sz="2700" b="1">
                <a:solidFill>
                  <a:srgbClr val="F24530"/>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133BCB7D-1653-4FA6-BC9E-D51FE267BC57}"/>
              </a:ext>
            </a:extLst>
          </p:cNvPr>
          <p:cNvSpPr>
            <a:spLocks xmlns:a="http://schemas.openxmlformats.org/drawingml/2006/main" noGrp="1"/>
          </p:cNvSpPr>
          <p:nvPr/>
        </p:nvSpPr>
        <p:spPr>
          <a:xfrm xmlns:a="http://schemas.openxmlformats.org/drawingml/2006/main">
            <a:off x="1704975" y="3790950"/>
            <a:ext cx="942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24959"/>
                </a:solidFill>
                <a:latin typeface="Helvetica Neue"/>
                <a:ea typeface="Helvetica Neue"/>
                <a:cs typeface="Helvetica Neue"/>
              </a:defRPr>
            </a:defPPr>
          </a:lstStyle>
          <a:p xmlns:a="http://schemas.openxmlformats.org/drawingml/2006/main">
            <a:pPr>
              <a:defRPr sz="2475" b="1">
                <a:solidFill>
                  <a:srgbClr val="024959"/>
                </a:solidFill>
                <a:latin typeface="Helvetica Neue"/>
                <a:ea typeface="Helvetica Neue"/>
                <a:cs typeface="Helvetica Neue"/>
              </a:defRPr>
            </a:pPr>
            <a:r>
              <a:rPr sz="2475" b="1">
                <a:solidFill>
                  <a:srgbClr val="024959"/>
                </a:solidFill>
                <a:latin typeface="Helvetica Neue"/>
                <a:ea typeface="Helvetica Neue"/>
                <a:cs typeface="Helvetica Neue"/>
              </a:rPr>
              <a:t>Duplicate and rearrange</a:t>
            </a:r>
          </a:p>
        </p:txBody>
      </p:sp>
      <p:sp>
        <p:nvSpPr>
          <p:cNvPr id="11" name="">
            <a:extLst xmlns:a="http://schemas.openxmlformats.org/drawingml/2006/main">
              <a:ext uri="{FF2B5EF4-FFF2-40B4-BE49-F238E27FC236}">
                <a16:creationId xmlns:a16="http://schemas.microsoft.com/office/drawing/2014/main" id="{C47A5378-5791-49C9-B094-137C8415BEF6}"/>
              </a:ext>
            </a:extLst>
          </p:cNvPr>
          <p:cNvSpPr>
            <a:spLocks xmlns:a="http://schemas.openxmlformats.org/drawingml/2006/main" noGrp="1"/>
          </p:cNvSpPr>
          <p:nvPr/>
        </p:nvSpPr>
        <p:spPr>
          <a:xfrm xmlns:a="http://schemas.openxmlformats.org/drawingml/2006/main">
            <a:off x="1704975" y="4248150"/>
            <a:ext cx="942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C6368"/>
                </a:solidFill>
                <a:latin typeface="Helvetica Neue"/>
                <a:ea typeface="Helvetica Neue"/>
                <a:cs typeface="Helvetica Neue"/>
              </a:defRPr>
            </a:defPPr>
          </a:lstStyle>
          <a:p xmlns:a="http://schemas.openxmlformats.org/drawingml/2006/main">
            <a:pPr>
              <a:defRPr sz="2025" b="0">
                <a:solidFill>
                  <a:srgbClr val="4C6368"/>
                </a:solidFill>
                <a:latin typeface="Helvetica Neue"/>
                <a:ea typeface="Helvetica Neue"/>
                <a:cs typeface="Helvetica Neue"/>
              </a:defRPr>
            </a:pPr>
            <a:r>
              <a:rPr sz="2025" b="0">
                <a:solidFill>
                  <a:srgbClr val="4C6368"/>
                </a:solidFill>
                <a:latin typeface="Helvetica Neue"/>
                <a:ea typeface="Helvetica Neue"/>
                <a:cs typeface="Helvetica Neue"/>
              </a:rPr>
              <a:t>Select the whole section in List View</a:t>
            </a:r>
          </a:p>
        </p:txBody>
      </p:sp>
      <p:sp>
        <p:nvSpPr>
          <p:cNvPr id="12" name="">
            <a:extLst xmlns:a="http://schemas.openxmlformats.org/drawingml/2006/main">
              <a:ext uri="{FF2B5EF4-FFF2-40B4-BE49-F238E27FC236}">
                <a16:creationId xmlns:a16="http://schemas.microsoft.com/office/drawing/2014/main" id="{3879A0C7-26FD-41CF-AF42-2B052BC0875B}"/>
              </a:ext>
            </a:extLst>
          </p:cNvPr>
          <p:cNvSpPr>
            <a:spLocks xmlns:a="http://schemas.openxmlformats.org/drawingml/2006/main" noGrp="1"/>
          </p:cNvSpPr>
          <p:nvPr/>
        </p:nvSpPr>
        <p:spPr>
          <a:xfrm xmlns:a="http://schemas.openxmlformats.org/drawingml/2006/main">
            <a:off x="685800" y="47910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24530"/>
                </a:solidFill>
                <a:latin typeface="Helvetica Neue"/>
                <a:ea typeface="Helvetica Neue"/>
                <a:cs typeface="Helvetica Neue"/>
              </a:defRPr>
            </a:defPPr>
          </a:lstStyle>
          <a:p xmlns:a="http://schemas.openxmlformats.org/drawingml/2006/main">
            <a:pPr>
              <a:defRPr sz="2700" b="1">
                <a:solidFill>
                  <a:srgbClr val="F24530"/>
                </a:solidFill>
                <a:latin typeface="Helvetica Neue"/>
                <a:ea typeface="Helvetica Neue"/>
                <a:cs typeface="Helvetica Neue"/>
              </a:defRPr>
            </a:pPr>
            <a:r>
              <a:rPr sz="2700" b="1">
                <a:solidFill>
                  <a:srgbClr val="F24530"/>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B0688CAD-89FC-4770-8868-B73AC901ECF7}"/>
              </a:ext>
            </a:extLst>
          </p:cNvPr>
          <p:cNvSpPr>
            <a:spLocks xmlns:a="http://schemas.openxmlformats.org/drawingml/2006/main" noGrp="1"/>
          </p:cNvSpPr>
          <p:nvPr/>
        </p:nvSpPr>
        <p:spPr>
          <a:xfrm xmlns:a="http://schemas.openxmlformats.org/drawingml/2006/main">
            <a:off x="1704975" y="4791075"/>
            <a:ext cx="942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24959"/>
                </a:solidFill>
                <a:latin typeface="Helvetica Neue"/>
                <a:ea typeface="Helvetica Neue"/>
                <a:cs typeface="Helvetica Neue"/>
              </a:defRPr>
            </a:defPPr>
          </a:lstStyle>
          <a:p xmlns:a="http://schemas.openxmlformats.org/drawingml/2006/main">
            <a:pPr>
              <a:defRPr sz="2475" b="1">
                <a:solidFill>
                  <a:srgbClr val="024959"/>
                </a:solidFill>
                <a:latin typeface="Helvetica Neue"/>
                <a:ea typeface="Helvetica Neue"/>
                <a:cs typeface="Helvetica Neue"/>
              </a:defRPr>
            </a:pPr>
            <a:r>
              <a:rPr sz="2475" b="1">
                <a:solidFill>
                  <a:srgbClr val="024959"/>
                </a:solidFill>
                <a:latin typeface="Helvetica Neue"/>
                <a:ea typeface="Helvetica Neue"/>
                <a:cs typeface="Helvetica Neue"/>
              </a:rPr>
              <a:t>Save, reopen and preview</a:t>
            </a:r>
          </a:p>
        </p:txBody>
      </p:sp>
      <p:sp>
        <p:nvSpPr>
          <p:cNvPr id="14" name="">
            <a:extLst xmlns:a="http://schemas.openxmlformats.org/drawingml/2006/main">
              <a:ext uri="{FF2B5EF4-FFF2-40B4-BE49-F238E27FC236}">
                <a16:creationId xmlns:a16="http://schemas.microsoft.com/office/drawing/2014/main" id="{2EE3FAAE-0275-4C30-B063-2FC671EC5626}"/>
              </a:ext>
            </a:extLst>
          </p:cNvPr>
          <p:cNvSpPr>
            <a:spLocks xmlns:a="http://schemas.openxmlformats.org/drawingml/2006/main" noGrp="1"/>
          </p:cNvSpPr>
          <p:nvPr/>
        </p:nvSpPr>
        <p:spPr>
          <a:xfrm xmlns:a="http://schemas.openxmlformats.org/drawingml/2006/main">
            <a:off x="1704975" y="5248275"/>
            <a:ext cx="942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C6368"/>
                </a:solidFill>
                <a:latin typeface="Helvetica Neue"/>
                <a:ea typeface="Helvetica Neue"/>
                <a:cs typeface="Helvetica Neue"/>
              </a:defRPr>
            </a:defPPr>
          </a:lstStyle>
          <a:p xmlns:a="http://schemas.openxmlformats.org/drawingml/2006/main">
            <a:pPr>
              <a:defRPr sz="2025" b="0">
                <a:solidFill>
                  <a:srgbClr val="4C6368"/>
                </a:solidFill>
                <a:latin typeface="Helvetica Neue"/>
                <a:ea typeface="Helvetica Neue"/>
                <a:cs typeface="Helvetica Neue"/>
              </a:defRPr>
            </a:pPr>
            <a:r>
              <a:rPr sz="2025" b="0">
                <a:solidFill>
                  <a:srgbClr val="4C6368"/>
                </a:solidFill>
                <a:latin typeface="Helvetica Neue"/>
                <a:ea typeface="Helvetica Neue"/>
                <a:cs typeface="Helvetica Neue"/>
              </a:rPr>
              <a:t>Check desktop and mobile layouts</a:t>
            </a:r>
          </a:p>
        </p:txBody>
      </p:sp>
    </p:spTree>
    <p:extLst>
      <p:ext uri="{BB962C8B-B14F-4D97-AF65-F5344CB8AC3E}">
        <p14:creationId xmlns:p14="http://schemas.microsoft.com/office/powerpoint/2010/main" val="1855801032"/>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812C42-25BB-44AE-A673-AFC6D30A5F2A}"/>
              </a:ext>
            </a:extLst>
          </p:cNvPr>
          <p:cNvSpPr>
            <a:spLocks xmlns:a="http://schemas.openxmlformats.org/drawingml/2006/main" noGrp="1"/>
          </p:cNvSpPr>
          <p:nvPr/>
        </p:nvSpPr>
        <p:spPr>
          <a:xfrm xmlns:a="http://schemas.openxmlformats.org/drawingml/2006/main">
            <a:off x="685800" y="552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24959"/>
                </a:solidFill>
                <a:latin typeface="Helvetica Neue"/>
                <a:ea typeface="Helvetica Neue"/>
                <a:cs typeface="Helvetica Neue"/>
              </a:defRPr>
            </a:defPPr>
          </a:lstStyle>
          <a:p xmlns:a="http://schemas.openxmlformats.org/drawingml/2006/main">
            <a:pPr>
              <a:defRPr sz="3900" b="1">
                <a:solidFill>
                  <a:srgbClr val="024959"/>
                </a:solidFill>
                <a:latin typeface="Helvetica Neue"/>
                <a:ea typeface="Helvetica Neue"/>
                <a:cs typeface="Helvetica Neue"/>
              </a:defRPr>
            </a:pPr>
            <a:r>
              <a:rPr sz="3900" b="1">
                <a:solidFill>
                  <a:srgbClr val="024959"/>
                </a:solidFill>
                <a:latin typeface="Helvetica Neue"/>
                <a:ea typeface="Helvetica Neue"/>
                <a:cs typeface="Helvetica Neue"/>
              </a:rPr>
              <a:t>Customisation and its reach</a:t>
            </a:r>
          </a:p>
        </p:txBody>
      </p:sp>
      <p:sp>
        <p:nvSpPr>
          <p:cNvPr id="2" name="">
            <a:extLst xmlns:a="http://schemas.openxmlformats.org/drawingml/2006/main">
              <a:ext uri="{FF2B5EF4-FFF2-40B4-BE49-F238E27FC236}">
                <a16:creationId xmlns:a16="http://schemas.microsoft.com/office/drawing/2014/main" id="{0A590C12-1F94-496C-B89D-9B4BDE40BF10}"/>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368"/>
                </a:solidFill>
                <a:latin typeface="Helvetica Neue"/>
                <a:ea typeface="Helvetica Neue"/>
                <a:cs typeface="Helvetica Neue"/>
              </a:defRPr>
            </a:defPPr>
          </a:lstStyle>
          <a:p xmlns:a="http://schemas.openxmlformats.org/drawingml/2006/main">
            <a:pPr>
              <a:defRPr sz="1350" b="0">
                <a:solidFill>
                  <a:srgbClr val="4C6368"/>
                </a:solidFill>
                <a:latin typeface="Helvetica Neue"/>
                <a:ea typeface="Helvetica Neue"/>
                <a:cs typeface="Helvetica Neue"/>
              </a:defRPr>
            </a:pPr>
            <a:r>
              <a:rPr sz="1350" b="0">
                <a:solidFill>
                  <a:srgbClr val="4C6368"/>
                </a:solidFill>
                <a:latin typeface="Helvetica Neue"/>
                <a:ea typeface="Helvetica Neue"/>
                <a:cs typeface="Helvetica Neue"/>
              </a:rPr>
              <a:t>05</a:t>
            </a:r>
          </a:p>
        </p:txBody>
      </p:sp>
      <p:graphicFrame>
        <p:nvGraphicFramePr>
          <p:cNvPr id="3" name="">
            <a:extLst xmlns:a="http://schemas.openxmlformats.org/drawingml/2006/main">
              <a:ext uri="{FF2B5EF4-FFF2-40B4-BE49-F238E27FC236}">
                <a16:creationId xmlns:a16="http://schemas.microsoft.com/office/drawing/2014/main" id="{B1477C81-87E9-4270-8E63-21CFEE518575}"/>
              </a:ext>
            </a:extLst>
          </p:cNvPr>
          <p:cNvGraphicFramePr/>
          <p:nvPr/>
        </p:nvGraphicFramePr>
        <p:xfrm>
          <a:off xmlns:a="http://schemas.openxmlformats.org/drawingml/2006/main" x="685800" y="1724025"/>
          <a:ext xmlns:a="http://schemas.openxmlformats.org/drawingml/2006/main" cx="10820400" cy="3724275"/>
        </p:xfrm>
        <a:graphic xmlns:a="http://schemas.openxmlformats.org/drawingml/2006/main">
          <a:graphicData uri="http://schemas.openxmlformats.org/drawingml/2006/table">
            <a:tbl>
              <a:tblPr/>
              <a:tblGrid>
                <a:gridCol w="2133600"/>
                <a:gridCol w="4114800"/>
                <a:gridCol w="4572000"/>
              </a:tblGrid>
              <a:tr h="552450">
                <a:tc>
                  <a:txBody>
                    <a:bodyPr lIns="152400" tIns="133350" rIns="152400" bIns="133350"/>
                    <a:lstStyle/>
                    <a:p>
                      <a:r>
                        <a:rPr sz="1800" b="1">
                          <a:solidFill>
                            <a:srgbClr val="FFFFFF"/>
                          </a:solidFill>
                          <a:latin typeface="Helvetica Neue"/>
                          <a:ea typeface="Helvetica Neue"/>
                          <a:cs typeface="Helvetica Neue"/>
                        </a:rPr>
                        <a:t>Scope</a:t>
                      </a:r>
                    </a:p>
                  </a:txBody>
                  <a:tcPr marL="91440" marR="91440" marT="45720" marB="45720" anchor="ctr">
                    <a:lnL w="9525">
                      <a:solidFill>
                        <a:srgbClr val="D3DEDE"/>
                      </a:solidFill>
                      <a:prstDash val="solid"/>
                    </a:lnL>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c>
                  <a:txBody>
                    <a:bodyPr lIns="152400" tIns="133350" rIns="152400" bIns="133350"/>
                    <a:lstStyle/>
                    <a:p>
                      <a:r>
                        <a:rPr sz="1800" b="1">
                          <a:solidFill>
                            <a:srgbClr val="FFFFFF"/>
                          </a:solidFill>
                          <a:latin typeface="Helvetica Neue"/>
                          <a:ea typeface="Helvetica Neue"/>
                          <a:cs typeface="Helvetica Neue"/>
                        </a:rPr>
                        <a:t>Where</a:t>
                      </a:r>
                    </a:p>
                  </a:txBody>
                  <a:tcPr marL="91440" marR="91440" marT="45720" marB="45720" anchor="ctr">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c>
                  <a:txBody>
                    <a:bodyPr lIns="152400" tIns="133350" rIns="152400" bIns="133350"/>
                    <a:lstStyle/>
                    <a:p>
                      <a:r>
                        <a:rPr sz="1800" b="1">
                          <a:solidFill>
                            <a:srgbClr val="FFFFFF"/>
                          </a:solidFill>
                          <a:latin typeface="Helvetica Neue"/>
                          <a:ea typeface="Helvetica Neue"/>
                          <a:cs typeface="Helvetica Neue"/>
                        </a:rPr>
                        <a:t>Example</a:t>
                      </a:r>
                    </a:p>
                  </a:txBody>
                  <a:tcPr marL="91440" marR="91440" marT="45720" marB="45720" anchor="ctr">
                    <a:lnR w="9525">
                      <a:solidFill>
                        <a:srgbClr val="D3DEDE"/>
                      </a:solidFill>
                      <a:prstDash val="solid"/>
                    </a:lnR>
                    <a:lnT w="9525">
                      <a:solidFill>
                        <a:srgbClr val="D3DEDE"/>
                      </a:solidFill>
                      <a:prstDash val="solid"/>
                    </a:lnT>
                    <a:lnB w="9525">
                      <a:solidFill>
                        <a:srgbClr val="D3DEDE"/>
                      </a:solidFill>
                      <a:prstDash val="solid"/>
                    </a:lnB>
                    <a:solidFill>
                      <a:srgbClr val="024959"/>
                    </a:solidFill>
                  </a:tcPr>
                </a:tc>
              </a:tr>
              <a:tr h="1057275">
                <a:tc>
                  <a:txBody>
                    <a:bodyPr lIns="152400" tIns="133350" rIns="152400" bIns="133350"/>
                    <a:lstStyle/>
                    <a:p>
                      <a:r>
                        <a:rPr sz="1875" b="1">
                          <a:solidFill>
                            <a:srgbClr val="17383F"/>
                          </a:solidFill>
                          <a:latin typeface="Helvetica Neue"/>
                          <a:ea typeface="Helvetica Neue"/>
                          <a:cs typeface="Helvetica Neue"/>
                        </a:rPr>
                        <a:t>One instance</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Block controls and styles</a:t>
                      </a:r>
                    </a:p>
                  </a:txBody>
                  <a:tcPr marL="91440" marR="91440" marT="45720" marB="45720" anchor="ctr">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Group: Light Card</a:t>
                      </a:r>
                    </a:p>
                    <a:p>
                      <a:r>
                        <a:rPr sz="1875" b="0">
                          <a:solidFill>
                            <a:srgbClr val="17383F"/>
                          </a:solidFill>
                          <a:latin typeface="Helvetica Neue"/>
                          <a:ea typeface="Helvetica Neue"/>
                          <a:cs typeface="Helvetica Neue"/>
                        </a:rPr>
                        <a:t>or Dark Card</a:t>
                      </a:r>
                    </a:p>
                  </a:txBody>
                  <a:tcPr marL="91440" marR="91440" marT="45720" marB="45720" anchor="ctr">
                    <a:lnR w="9525">
                      <a:solidFill>
                        <a:srgbClr val="D3DEDE"/>
                      </a:solidFill>
                      <a:prstDash val="solid"/>
                    </a:lnR>
                    <a:lnB w="9525">
                      <a:solidFill>
                        <a:srgbClr val="D3DEDE"/>
                      </a:solidFill>
                      <a:prstDash val="solid"/>
                    </a:lnB>
                    <a:solidFill>
                      <a:srgbClr val="FFFFFF"/>
                    </a:solidFill>
                  </a:tcPr>
                </a:tc>
              </a:tr>
              <a:tr h="1057275">
                <a:tc>
                  <a:txBody>
                    <a:bodyPr lIns="152400" tIns="133350" rIns="152400" bIns="133350"/>
                    <a:lstStyle/>
                    <a:p>
                      <a:r>
                        <a:rPr sz="1875" b="1">
                          <a:solidFill>
                            <a:srgbClr val="17383F"/>
                          </a:solidFill>
                          <a:latin typeface="Helvetica Neue"/>
                          <a:ea typeface="Helvetica Neue"/>
                          <a:cs typeface="Helvetica Neue"/>
                        </a:rPr>
                        <a:t>Site defaults</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Appearance → Editor</a:t>
                      </a:r>
                    </a:p>
                    <a:p>
                      <a:r>
                        <a:rPr sz="1875" b="0">
                          <a:solidFill>
                            <a:srgbClr val="17383F"/>
                          </a:solidFill>
                          <a:latin typeface="Helvetica Neue"/>
                          <a:ea typeface="Helvetica Neue"/>
                          <a:cs typeface="Helvetica Neue"/>
                        </a:rPr>
                        <a:t>→ Styles</a:t>
                      </a:r>
                    </a:p>
                  </a:txBody>
                  <a:tcPr marL="91440" marR="91440" marT="45720" marB="45720" anchor="ctr">
                    <a:lnR w="9525">
                      <a:solidFill>
                        <a:srgbClr val="D3DEDE"/>
                      </a:solidFill>
                      <a:prstDash val="solid"/>
                    </a:lnR>
                    <a:lnB w="9525">
                      <a:solidFill>
                        <a:srgbClr val="D3DEDE"/>
                      </a:solidFill>
                      <a:prstDash val="solid"/>
                    </a:lnB>
                    <a:solidFill>
                      <a:srgbClr val="F0F3F1"/>
                    </a:solidFill>
                  </a:tcPr>
                </a:tc>
                <a:tc>
                  <a:txBody>
                    <a:bodyPr lIns="152400" tIns="133350" rIns="152400" bIns="133350"/>
                    <a:lstStyle/>
                    <a:p>
                      <a:r>
                        <a:rPr sz="1875" b="0">
                          <a:solidFill>
                            <a:srgbClr val="17383F"/>
                          </a:solidFill>
                          <a:latin typeface="Helvetica Neue"/>
                          <a:ea typeface="Helvetica Neue"/>
                          <a:cs typeface="Helvetica Neue"/>
                        </a:rPr>
                        <a:t>Typography, palette</a:t>
                      </a:r>
                    </a:p>
                    <a:p>
                      <a:r>
                        <a:rPr sz="1875" b="0">
                          <a:solidFill>
                            <a:srgbClr val="17383F"/>
                          </a:solidFill>
                          <a:latin typeface="Helvetica Neue"/>
                          <a:ea typeface="Helvetica Neue"/>
                          <a:cs typeface="Helvetica Neue"/>
                        </a:rPr>
                        <a:t>and layout settings</a:t>
                      </a:r>
                    </a:p>
                  </a:txBody>
                  <a:tcPr marL="91440" marR="91440" marT="45720" marB="45720" anchor="ctr">
                    <a:lnR w="9525">
                      <a:solidFill>
                        <a:srgbClr val="D3DEDE"/>
                      </a:solidFill>
                      <a:prstDash val="solid"/>
                    </a:lnR>
                    <a:lnB w="9525">
                      <a:solidFill>
                        <a:srgbClr val="D3DEDE"/>
                      </a:solidFill>
                      <a:prstDash val="solid"/>
                    </a:lnB>
                    <a:solidFill>
                      <a:srgbClr val="F0F3F1"/>
                    </a:solidFill>
                  </a:tcPr>
                </a:tc>
              </a:tr>
              <a:tr h="1057275">
                <a:tc>
                  <a:txBody>
                    <a:bodyPr lIns="152400" tIns="133350" rIns="152400" bIns="133350"/>
                    <a:lstStyle/>
                    <a:p>
                      <a:r>
                        <a:rPr sz="1875" b="1">
                          <a:solidFill>
                            <a:srgbClr val="17383F"/>
                          </a:solidFill>
                          <a:latin typeface="Helvetica Neue"/>
                          <a:ea typeface="Helvetica Neue"/>
                          <a:cs typeface="Helvetica Neue"/>
                        </a:rPr>
                        <a:t>Theme source</a:t>
                      </a:r>
                    </a:p>
                  </a:txBody>
                  <a:tcPr marL="91440" marR="91440" marT="45720" marB="45720" anchor="ctr">
                    <a:lnL w="9525">
                      <a:solidFill>
                        <a:srgbClr val="D3DEDE"/>
                      </a:solidFill>
                      <a:prstDash val="solid"/>
                    </a:lnL>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theme.json and</a:t>
                      </a:r>
                    </a:p>
                    <a:p>
                      <a:r>
                        <a:rPr sz="1875" b="0">
                          <a:solidFill>
                            <a:srgbClr val="17383F"/>
                          </a:solidFill>
                          <a:latin typeface="Helvetica Neue"/>
                          <a:ea typeface="Helvetica Neue"/>
                          <a:cs typeface="Helvetica Neue"/>
                        </a:rPr>
                        <a:t>component CSS</a:t>
                      </a:r>
                    </a:p>
                  </a:txBody>
                  <a:tcPr marL="91440" marR="91440" marT="45720" marB="45720" anchor="ctr">
                    <a:lnR w="9525">
                      <a:solidFill>
                        <a:srgbClr val="D3DEDE"/>
                      </a:solidFill>
                      <a:prstDash val="solid"/>
                    </a:lnR>
                    <a:lnB w="9525">
                      <a:solidFill>
                        <a:srgbClr val="D3DEDE"/>
                      </a:solidFill>
                      <a:prstDash val="solid"/>
                    </a:lnB>
                    <a:solidFill>
                      <a:srgbClr val="FFFFFF"/>
                    </a:solidFill>
                  </a:tcPr>
                </a:tc>
                <a:tc>
                  <a:txBody>
                    <a:bodyPr lIns="152400" tIns="133350" rIns="152400" bIns="133350"/>
                    <a:lstStyle/>
                    <a:p>
                      <a:r>
                        <a:rPr sz="1875" b="0">
                          <a:solidFill>
                            <a:srgbClr val="17383F"/>
                          </a:solidFill>
                          <a:latin typeface="Helvetica Neue"/>
                          <a:ea typeface="Helvetica Neue"/>
                          <a:cs typeface="Helvetica Neue"/>
                        </a:rPr>
                        <a:t>Reusable brand defaults</a:t>
                      </a:r>
                    </a:p>
                    <a:p>
                      <a:r>
                        <a:rPr sz="1875" b="0">
                          <a:solidFill>
                            <a:srgbClr val="17383F"/>
                          </a:solidFill>
                          <a:latin typeface="Helvetica Neue"/>
                          <a:ea typeface="Helvetica Neue"/>
                          <a:cs typeface="Helvetica Neue"/>
                        </a:rPr>
                        <a:t>and section behaviour</a:t>
                      </a:r>
                    </a:p>
                  </a:txBody>
                  <a:tcPr marL="91440" marR="91440" marT="45720" marB="45720" anchor="ctr">
                    <a:lnR w="9525">
                      <a:solidFill>
                        <a:srgbClr val="D3DEDE"/>
                      </a:solidFill>
                      <a:prstDash val="solid"/>
                    </a:lnR>
                    <a:lnB w="9525">
                      <a:solidFill>
                        <a:srgbClr val="D3DEDE"/>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92C5B1-6550-4040-8CCF-46E1B956D56E}"/>
              </a:ext>
            </a:extLst>
          </p:cNvPr>
          <p:cNvSpPr>
            <a:spLocks xmlns:a="http://schemas.openxmlformats.org/drawingml/2006/main" noGrp="1"/>
          </p:cNvSpPr>
          <p:nvPr/>
        </p:nvSpPr>
        <p:spPr>
          <a:xfrm xmlns:a="http://schemas.openxmlformats.org/drawingml/2006/main">
            <a:off x="685800" y="58197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C6368"/>
                </a:solidFill>
                <a:latin typeface="Helvetica Neue"/>
                <a:ea typeface="Helvetica Neue"/>
                <a:cs typeface="Helvetica Neue"/>
              </a:defRPr>
            </a:defPPr>
          </a:lstStyle>
          <a:p xmlns:a="http://schemas.openxmlformats.org/drawingml/2006/main">
            <a:pPr>
              <a:defRPr sz="1875" b="0">
                <a:solidFill>
                  <a:srgbClr val="4C6368"/>
                </a:solidFill>
                <a:latin typeface="Helvetica Neue"/>
                <a:ea typeface="Helvetica Neue"/>
                <a:cs typeface="Helvetica Neue"/>
              </a:defRPr>
            </a:pPr>
            <a:r>
              <a:rPr sz="1875" b="0">
                <a:solidFill>
                  <a:srgbClr val="4C6368"/>
                </a:solidFill>
                <a:latin typeface="Helvetica Neue"/>
                <a:ea typeface="Helvetica Neue"/>
                <a:cs typeface="Helvetica Neue"/>
              </a:rPr>
              <a:t>Saved site styles and local overrides can take precedence over theme defaults.</a:t>
            </a:r>
          </a:p>
        </p:txBody>
      </p:sp>
    </p:spTree>
    <p:extLst>
      <p:ext uri="{BB962C8B-B14F-4D97-AF65-F5344CB8AC3E}">
        <p14:creationId xmlns:p14="http://schemas.microsoft.com/office/powerpoint/2010/main" val="629007458"/>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E651E5-BB23-4A08-B0C7-8912D6EC70A3}"/>
              </a:ext>
            </a:extLst>
          </p:cNvPr>
          <p:cNvSpPr>
            <a:spLocks xmlns:a="http://schemas.openxmlformats.org/drawingml/2006/main" noGrp="1"/>
          </p:cNvSpPr>
          <p:nvPr/>
        </p:nvSpPr>
        <p:spPr>
          <a:xfrm xmlns:a="http://schemas.openxmlformats.org/drawingml/2006/main">
            <a:off x="685800" y="552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24959"/>
                </a:solidFill>
                <a:latin typeface="Helvetica Neue"/>
                <a:ea typeface="Helvetica Neue"/>
                <a:cs typeface="Helvetica Neue"/>
              </a:defRPr>
            </a:defPPr>
          </a:lstStyle>
          <a:p xmlns:a="http://schemas.openxmlformats.org/drawingml/2006/main">
            <a:pPr>
              <a:defRPr sz="3900" b="1">
                <a:solidFill>
                  <a:srgbClr val="024959"/>
                </a:solidFill>
                <a:latin typeface="Helvetica Neue"/>
                <a:ea typeface="Helvetica Neue"/>
                <a:cs typeface="Helvetica Neue"/>
              </a:defRPr>
            </a:pPr>
            <a:r>
              <a:rPr sz="3900" b="1">
                <a:solidFill>
                  <a:srgbClr val="024959"/>
                </a:solidFill>
                <a:latin typeface="Helvetica Neue"/>
                <a:ea typeface="Helvetica Neue"/>
                <a:cs typeface="Helvetica Neue"/>
              </a:rPr>
              <a:t>Reuse and shared updates</a:t>
            </a:r>
          </a:p>
        </p:txBody>
      </p:sp>
      <p:sp>
        <p:nvSpPr>
          <p:cNvPr id="2" name="">
            <a:extLst xmlns:a="http://schemas.openxmlformats.org/drawingml/2006/main">
              <a:ext uri="{FF2B5EF4-FFF2-40B4-BE49-F238E27FC236}">
                <a16:creationId xmlns:a16="http://schemas.microsoft.com/office/drawing/2014/main" id="{6E099C93-DAF3-4D9B-81FE-9BD2283E804D}"/>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368"/>
                </a:solidFill>
                <a:latin typeface="Helvetica Neue"/>
                <a:ea typeface="Helvetica Neue"/>
                <a:cs typeface="Helvetica Neue"/>
              </a:defRPr>
            </a:defPPr>
          </a:lstStyle>
          <a:p xmlns:a="http://schemas.openxmlformats.org/drawingml/2006/main">
            <a:pPr>
              <a:defRPr sz="1350" b="0">
                <a:solidFill>
                  <a:srgbClr val="4C6368"/>
                </a:solidFill>
                <a:latin typeface="Helvetica Neue"/>
                <a:ea typeface="Helvetica Neue"/>
                <a:cs typeface="Helvetica Neue"/>
              </a:defRPr>
            </a:pPr>
            <a:r>
              <a:rPr sz="1350" b="0">
                <a:solidFill>
                  <a:srgbClr val="4C6368"/>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07FA413-75D5-4B15-A84A-250048BE65B7}"/>
              </a:ext>
            </a:extLst>
          </p:cNvPr>
          <p:cNvSpPr>
            <a:spLocks xmlns:a="http://schemas.openxmlformats.org/drawingml/2006/main" noGrp="1"/>
          </p:cNvSpPr>
          <p:nvPr/>
        </p:nvSpPr>
        <p:spPr>
          <a:xfrm xmlns:a="http://schemas.openxmlformats.org/drawingml/2006/main">
            <a:off x="685800" y="1981200"/>
            <a:ext cx="5191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24959"/>
                </a:solidFill>
                <a:latin typeface="Helvetica Neue"/>
                <a:ea typeface="Helvetica Neue"/>
                <a:cs typeface="Helvetica Neue"/>
              </a:defRPr>
            </a:defPPr>
          </a:lstStyle>
          <a:p xmlns:a="http://schemas.openxmlformats.org/drawingml/2006/main">
            <a:pPr>
              <a:defRPr sz="2550" b="1">
                <a:solidFill>
                  <a:srgbClr val="024959"/>
                </a:solidFill>
                <a:latin typeface="Helvetica Neue"/>
                <a:ea typeface="Helvetica Neue"/>
                <a:cs typeface="Helvetica Neue"/>
              </a:defRPr>
            </a:pPr>
            <a:r>
              <a:rPr sz="2550" b="1">
                <a:solidFill>
                  <a:srgbClr val="024959"/>
                </a:solidFill>
                <a:latin typeface="Helvetica Neue"/>
                <a:ea typeface="Helvetica Neue"/>
                <a:cs typeface="Helvetica Neue"/>
              </a:rPr>
              <a:t>Independent pattern copy</a:t>
            </a:r>
          </a:p>
        </p:txBody>
      </p:sp>
      <p:sp>
        <p:nvSpPr>
          <p:cNvPr id="4" name="">
            <a:extLst xmlns:a="http://schemas.openxmlformats.org/drawingml/2006/main">
              <a:ext uri="{FF2B5EF4-FFF2-40B4-BE49-F238E27FC236}">
                <a16:creationId xmlns:a16="http://schemas.microsoft.com/office/drawing/2014/main" id="{80B4E163-6E3C-46F8-B0C5-D6AD8008CA6B}"/>
              </a:ext>
            </a:extLst>
          </p:cNvPr>
          <p:cNvSpPr>
            <a:spLocks xmlns:a="http://schemas.openxmlformats.org/drawingml/2006/main" noGrp="1"/>
          </p:cNvSpPr>
          <p:nvPr/>
        </p:nvSpPr>
        <p:spPr>
          <a:xfrm xmlns:a="http://schemas.openxmlformats.org/drawingml/2006/main">
            <a:off x="685800" y="2800350"/>
            <a:ext cx="5095875"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83F"/>
                </a:solidFill>
                <a:latin typeface="Helvetica Neue"/>
                <a:ea typeface="Helvetica Neue"/>
                <a:cs typeface="Helvetica Neue"/>
              </a:defRPr>
            </a:defPPr>
          </a:lstStyle>
          <a:p xmlns:a="http://schemas.openxmlformats.org/drawingml/2006/main">
            <a:pPr>
              <a:defRPr sz="2325" b="0">
                <a:solidFill>
                  <a:srgbClr val="17383F"/>
                </a:solidFill>
                <a:latin typeface="Helvetica Neue"/>
                <a:ea typeface="Helvetica Neue"/>
                <a:cs typeface="Helvetica Neue"/>
              </a:defRPr>
            </a:pPr>
            <a:r>
              <a:rPr sz="2325" b="0">
                <a:solidFill>
                  <a:srgbClr val="17383F"/>
                </a:solidFill>
                <a:latin typeface="Helvetica Neue"/>
                <a:ea typeface="Helvetica Neue"/>
                <a:cs typeface="Helvetica Neue"/>
              </a:rPr>
              <a:t>Each page keeps its own content.</a:t>
            </a:r>
          </a:p>
          <a:p xmlns:a="http://schemas.openxmlformats.org/drawingml/2006/main">
            <a:r>
              <a:t/>
            </a:r>
          </a:p>
          <a:p xmlns:a="http://schemas.openxmlformats.org/drawingml/2006/main">
            <a:pPr>
              <a:defRPr sz="2325" b="0">
                <a:solidFill>
                  <a:srgbClr val="17383F"/>
                </a:solidFill>
                <a:latin typeface="Helvetica Neue"/>
                <a:ea typeface="Helvetica Neue"/>
                <a:cs typeface="Helvetica Neue"/>
              </a:defRPr>
            </a:pPr>
            <a:r>
              <a:rPr sz="2325" b="0">
                <a:solidFill>
                  <a:srgbClr val="17383F"/>
                </a:solidFill>
                <a:latin typeface="Helvetica Neue"/>
                <a:ea typeface="Helvetica Neue"/>
                <a:cs typeface="Helvetica Neue"/>
              </a:rPr>
              <a:t>Source markup changes do not</a:t>
            </a:r>
          </a:p>
          <a:p xmlns:a="http://schemas.openxmlformats.org/drawingml/2006/main">
            <a:pPr>
              <a:defRPr sz="2325" b="0">
                <a:solidFill>
                  <a:srgbClr val="17383F"/>
                </a:solidFill>
                <a:latin typeface="Helvetica Neue"/>
                <a:ea typeface="Helvetica Neue"/>
                <a:cs typeface="Helvetica Neue"/>
              </a:defRPr>
            </a:pPr>
            <a:r>
              <a:rPr sz="2325" b="0">
                <a:solidFill>
                  <a:srgbClr val="17383F"/>
                </a:solidFill>
                <a:latin typeface="Helvetica Neue"/>
                <a:ea typeface="Helvetica Neue"/>
                <a:cs typeface="Helvetica Neue"/>
              </a:rPr>
              <a:t>rewrite existing saved copies.</a:t>
            </a:r>
          </a:p>
        </p:txBody>
      </p:sp>
      <p:sp>
        <p:nvSpPr>
          <p:cNvPr id="5" name="">
            <a:extLst xmlns:a="http://schemas.openxmlformats.org/drawingml/2006/main">
              <a:ext uri="{FF2B5EF4-FFF2-40B4-BE49-F238E27FC236}">
                <a16:creationId xmlns:a16="http://schemas.microsoft.com/office/drawing/2014/main" id="{F0D1DDB7-2FA7-40A3-94B7-7D33E996E1A9}"/>
              </a:ext>
            </a:extLst>
          </p:cNvPr>
          <p:cNvSpPr>
            <a:spLocks xmlns:a="http://schemas.openxmlformats.org/drawingml/2006/main" noGrp="1"/>
          </p:cNvSpPr>
          <p:nvPr/>
        </p:nvSpPr>
        <p:spPr>
          <a:xfrm xmlns:a="http://schemas.openxmlformats.org/drawingml/2006/main">
            <a:off x="6534150" y="1981200"/>
            <a:ext cx="4972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24959"/>
                </a:solidFill>
                <a:latin typeface="Helvetica Neue"/>
                <a:ea typeface="Helvetica Neue"/>
                <a:cs typeface="Helvetica Neue"/>
              </a:defRPr>
            </a:defPPr>
          </a:lstStyle>
          <a:p xmlns:a="http://schemas.openxmlformats.org/drawingml/2006/main">
            <a:pPr>
              <a:defRPr sz="2550" b="1">
                <a:solidFill>
                  <a:srgbClr val="024959"/>
                </a:solidFill>
                <a:latin typeface="Helvetica Neue"/>
                <a:ea typeface="Helvetica Neue"/>
                <a:cs typeface="Helvetica Neue"/>
              </a:defRPr>
            </a:pPr>
            <a:r>
              <a:rPr sz="2550" b="1">
                <a:solidFill>
                  <a:srgbClr val="024959"/>
                </a:solidFill>
                <a:latin typeface="Helvetica Neue"/>
                <a:ea typeface="Helvetica Neue"/>
                <a:cs typeface="Helvetica Neue"/>
              </a:rPr>
              <a:t>Synced pattern</a:t>
            </a:r>
          </a:p>
        </p:txBody>
      </p:sp>
      <p:sp>
        <p:nvSpPr>
          <p:cNvPr id="6" name="">
            <a:extLst xmlns:a="http://schemas.openxmlformats.org/drawingml/2006/main">
              <a:ext uri="{FF2B5EF4-FFF2-40B4-BE49-F238E27FC236}">
                <a16:creationId xmlns:a16="http://schemas.microsoft.com/office/drawing/2014/main" id="{B50D15F9-2400-4C46-A5E5-7DC98919203B}"/>
              </a:ext>
            </a:extLst>
          </p:cNvPr>
          <p:cNvSpPr>
            <a:spLocks xmlns:a="http://schemas.openxmlformats.org/drawingml/2006/main" noGrp="1"/>
          </p:cNvSpPr>
          <p:nvPr/>
        </p:nvSpPr>
        <p:spPr>
          <a:xfrm xmlns:a="http://schemas.openxmlformats.org/drawingml/2006/main">
            <a:off x="6534150" y="2800350"/>
            <a:ext cx="49720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83F"/>
                </a:solidFill>
                <a:latin typeface="Helvetica Neue"/>
                <a:ea typeface="Helvetica Neue"/>
                <a:cs typeface="Helvetica Neue"/>
              </a:defRPr>
            </a:defPPr>
          </a:lstStyle>
          <a:p xmlns:a="http://schemas.openxmlformats.org/drawingml/2006/main">
            <a:pPr>
              <a:defRPr sz="2325" b="0">
                <a:solidFill>
                  <a:srgbClr val="17383F"/>
                </a:solidFill>
                <a:latin typeface="Helvetica Neue"/>
                <a:ea typeface="Helvetica Neue"/>
                <a:cs typeface="Helvetica Neue"/>
              </a:defRPr>
            </a:pPr>
            <a:r>
              <a:rPr sz="2325" b="0">
                <a:solidFill>
                  <a:srgbClr val="17383F"/>
                </a:solidFill>
                <a:latin typeface="Helvetica Neue"/>
                <a:ea typeface="Helvetica Neue"/>
                <a:cs typeface="Helvetica Neue"/>
              </a:rPr>
              <a:t>Instances reference one record.</a:t>
            </a:r>
          </a:p>
          <a:p xmlns:a="http://schemas.openxmlformats.org/drawingml/2006/main">
            <a:r>
              <a:t/>
            </a:r>
          </a:p>
          <a:p xmlns:a="http://schemas.openxmlformats.org/drawingml/2006/main">
            <a:pPr>
              <a:defRPr sz="2325" b="0">
                <a:solidFill>
                  <a:srgbClr val="17383F"/>
                </a:solidFill>
                <a:latin typeface="Helvetica Neue"/>
                <a:ea typeface="Helvetica Neue"/>
                <a:cs typeface="Helvetica Neue"/>
              </a:defRPr>
            </a:pPr>
            <a:r>
              <a:rPr sz="2325" b="0">
                <a:solidFill>
                  <a:srgbClr val="17383F"/>
                </a:solidFill>
                <a:latin typeface="Helvetica Neue"/>
                <a:ea typeface="Helvetica Neue"/>
                <a:cs typeface="Helvetica Neue"/>
              </a:rPr>
              <a:t>Editing the original updates</a:t>
            </a:r>
          </a:p>
          <a:p xmlns:a="http://schemas.openxmlformats.org/drawingml/2006/main">
            <a:pPr>
              <a:defRPr sz="2325" b="0">
                <a:solidFill>
                  <a:srgbClr val="17383F"/>
                </a:solidFill>
                <a:latin typeface="Helvetica Neue"/>
                <a:ea typeface="Helvetica Neue"/>
                <a:cs typeface="Helvetica Neue"/>
              </a:defRPr>
            </a:pPr>
            <a:r>
              <a:rPr sz="2325" b="0">
                <a:solidFill>
                  <a:srgbClr val="17383F"/>
                </a:solidFill>
                <a:latin typeface="Helvetica Neue"/>
                <a:ea typeface="Helvetica Neue"/>
                <a:cs typeface="Helvetica Neue"/>
              </a:rPr>
              <a:t>its linked instances.</a:t>
            </a:r>
          </a:p>
        </p:txBody>
      </p:sp>
      <p:sp>
        <p:nvSpPr>
          <p:cNvPr id="7" name="">
            <a:extLst xmlns:a="http://schemas.openxmlformats.org/drawingml/2006/main">
              <a:ext uri="{FF2B5EF4-FFF2-40B4-BE49-F238E27FC236}">
                <a16:creationId xmlns:a16="http://schemas.microsoft.com/office/drawing/2014/main" id="{F87F4D1A-E17B-4958-813C-162ADA999CB8}"/>
              </a:ext>
            </a:extLst>
          </p:cNvPr>
          <p:cNvSpPr>
            <a:spLocks xmlns:a="http://schemas.openxmlformats.org/drawingml/2006/main" noGrp="1"/>
          </p:cNvSpPr>
          <p:nvPr/>
        </p:nvSpPr>
        <p:spPr>
          <a:xfrm xmlns:a="http://schemas.openxmlformats.org/drawingml/2006/main">
            <a:off x="685800" y="5391150"/>
            <a:ext cx="10820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C6368"/>
                </a:solidFill>
                <a:latin typeface="Helvetica Neue"/>
                <a:ea typeface="Helvetica Neue"/>
                <a:cs typeface="Helvetica Neue"/>
              </a:defRPr>
            </a:defPPr>
          </a:lstStyle>
          <a:p xmlns:a="http://schemas.openxmlformats.org/drawingml/2006/main">
            <a:pPr>
              <a:defRPr sz="2100" b="0">
                <a:solidFill>
                  <a:srgbClr val="4C6368"/>
                </a:solidFill>
                <a:latin typeface="Helvetica Neue"/>
                <a:ea typeface="Helvetica Neue"/>
                <a:cs typeface="Helvetica Neue"/>
              </a:defRPr>
            </a:pPr>
            <a:r>
              <a:rPr sz="2100" b="0">
                <a:solidFill>
                  <a:srgbClr val="4C6368"/>
                </a:solidFill>
                <a:latin typeface="Helvetica Neue"/>
                <a:ea typeface="Helvetica Neue"/>
                <a:cs typeface="Helvetica Neue"/>
              </a:rPr>
              <a:t>Shared CSS and dynamic rendering can still update independently of the content.</a:t>
            </a:r>
          </a:p>
        </p:txBody>
      </p:sp>
    </p:spTree>
    <p:extLst>
      <p:ext uri="{BB962C8B-B14F-4D97-AF65-F5344CB8AC3E}">
        <p14:creationId xmlns:p14="http://schemas.microsoft.com/office/powerpoint/2010/main" val="749308366"/>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BD75B1-E2B2-4CE5-9045-60B5606F3B45}"/>
              </a:ext>
            </a:extLst>
          </p:cNvPr>
          <p:cNvSpPr>
            <a:spLocks xmlns:a="http://schemas.openxmlformats.org/drawingml/2006/main" noGrp="1"/>
          </p:cNvSpPr>
          <p:nvPr/>
        </p:nvSpPr>
        <p:spPr>
          <a:xfrm xmlns:a="http://schemas.openxmlformats.org/drawingml/2006/main">
            <a:off x="685800" y="552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24959"/>
                </a:solidFill>
                <a:latin typeface="Helvetica Neue"/>
                <a:ea typeface="Helvetica Neue"/>
                <a:cs typeface="Helvetica Neue"/>
              </a:defRPr>
            </a:defPPr>
          </a:lstStyle>
          <a:p xmlns:a="http://schemas.openxmlformats.org/drawingml/2006/main">
            <a:pPr>
              <a:defRPr sz="3900" b="1">
                <a:solidFill>
                  <a:srgbClr val="024959"/>
                </a:solidFill>
                <a:latin typeface="Helvetica Neue"/>
                <a:ea typeface="Helvetica Neue"/>
                <a:cs typeface="Helvetica Neue"/>
              </a:defRPr>
            </a:pPr>
            <a:r>
              <a:rPr sz="3900" b="1">
                <a:solidFill>
                  <a:srgbClr val="024959"/>
                </a:solidFill>
                <a:latin typeface="Helvetica Neue"/>
                <a:ea typeface="Helvetica Neue"/>
                <a:cs typeface="Helvetica Neue"/>
              </a:rPr>
              <a:t>What the structure improves</a:t>
            </a:r>
          </a:p>
        </p:txBody>
      </p:sp>
      <p:sp>
        <p:nvSpPr>
          <p:cNvPr id="2" name="">
            <a:extLst xmlns:a="http://schemas.openxmlformats.org/drawingml/2006/main">
              <a:ext uri="{FF2B5EF4-FFF2-40B4-BE49-F238E27FC236}">
                <a16:creationId xmlns:a16="http://schemas.microsoft.com/office/drawing/2014/main" id="{AC3966A9-42CD-41CD-8A62-C9CF9E69FBF1}"/>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368"/>
                </a:solidFill>
                <a:latin typeface="Helvetica Neue"/>
                <a:ea typeface="Helvetica Neue"/>
                <a:cs typeface="Helvetica Neue"/>
              </a:defRPr>
            </a:defPPr>
          </a:lstStyle>
          <a:p xmlns:a="http://schemas.openxmlformats.org/drawingml/2006/main">
            <a:pPr>
              <a:defRPr sz="1350" b="0">
                <a:solidFill>
                  <a:srgbClr val="4C6368"/>
                </a:solidFill>
                <a:latin typeface="Helvetica Neue"/>
                <a:ea typeface="Helvetica Neue"/>
                <a:cs typeface="Helvetica Neue"/>
              </a:defRPr>
            </a:pPr>
            <a:r>
              <a:rPr sz="1350" b="0">
                <a:solidFill>
                  <a:srgbClr val="4C6368"/>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8CEA941-200B-4DE9-A3AA-682476985987}"/>
              </a:ext>
            </a:extLst>
          </p:cNvPr>
          <p:cNvSpPr>
            <a:spLocks xmlns:a="http://schemas.openxmlformats.org/drawingml/2006/main" noGrp="1"/>
          </p:cNvSpPr>
          <p:nvPr/>
        </p:nvSpPr>
        <p:spPr>
          <a:xfrm xmlns:a="http://schemas.openxmlformats.org/drawingml/2006/main">
            <a:off x="685800" y="1819275"/>
            <a:ext cx="2819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24959"/>
                </a:solidFill>
                <a:latin typeface="Helvetica Neue"/>
                <a:ea typeface="Helvetica Neue"/>
                <a:cs typeface="Helvetica Neue"/>
              </a:defRPr>
            </a:defPPr>
          </a:lstStyle>
          <a:p xmlns:a="http://schemas.openxmlformats.org/drawingml/2006/main">
            <a:pPr>
              <a:defRPr sz="2325" b="1">
                <a:solidFill>
                  <a:srgbClr val="024959"/>
                </a:solidFill>
                <a:latin typeface="Helvetica Neue"/>
                <a:ea typeface="Helvetica Neue"/>
                <a:cs typeface="Helvetica Neue"/>
              </a:defRPr>
            </a:pPr>
            <a:r>
              <a:rPr sz="2325" b="1">
                <a:solidFill>
                  <a:srgbClr val="024959"/>
                </a:solidFill>
                <a:latin typeface="Helvetica Neue"/>
                <a:ea typeface="Helvetica Neue"/>
                <a:cs typeface="Helvetica Neue"/>
              </a:rPr>
              <a:t>Editing</a:t>
            </a:r>
          </a:p>
        </p:txBody>
      </p:sp>
      <p:sp>
        <p:nvSpPr>
          <p:cNvPr id="4" name="">
            <a:extLst xmlns:a="http://schemas.openxmlformats.org/drawingml/2006/main">
              <a:ext uri="{FF2B5EF4-FFF2-40B4-BE49-F238E27FC236}">
                <a16:creationId xmlns:a16="http://schemas.microsoft.com/office/drawing/2014/main" id="{2D280066-727F-42FF-9A46-E772BC02CD80}"/>
              </a:ext>
            </a:extLst>
          </p:cNvPr>
          <p:cNvSpPr>
            <a:spLocks xmlns:a="http://schemas.openxmlformats.org/drawingml/2006/main" noGrp="1"/>
          </p:cNvSpPr>
          <p:nvPr/>
        </p:nvSpPr>
        <p:spPr>
          <a:xfrm xmlns:a="http://schemas.openxmlformats.org/drawingml/2006/main">
            <a:off x="3657600" y="1819275"/>
            <a:ext cx="7848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83F"/>
                </a:solidFill>
                <a:latin typeface="Helvetica Neue"/>
                <a:ea typeface="Helvetica Neue"/>
                <a:cs typeface="Helvetica Neue"/>
              </a:defRPr>
            </a:defPPr>
          </a:lstStyle>
          <a:p xmlns:a="http://schemas.openxmlformats.org/drawingml/2006/main">
            <a:pPr>
              <a:defRPr sz="2250" b="0">
                <a:solidFill>
                  <a:srgbClr val="17383F"/>
                </a:solidFill>
                <a:latin typeface="Helvetica Neue"/>
                <a:ea typeface="Helvetica Neue"/>
                <a:cs typeface="Helvetica Neue"/>
              </a:defRPr>
            </a:pPr>
            <a:r>
              <a:rPr sz="2250" b="0">
                <a:solidFill>
                  <a:srgbClr val="17383F"/>
                </a:solidFill>
                <a:latin typeface="Helvetica Neue"/>
                <a:ea typeface="Helvetica Neue"/>
                <a:cs typeface="Helvetica Neue"/>
              </a:rPr>
              <a:t>Designed starting points with editable pieces</a:t>
            </a:r>
          </a:p>
        </p:txBody>
      </p:sp>
      <p:sp>
        <p:nvSpPr>
          <p:cNvPr id="5" name="">
            <a:extLst xmlns:a="http://schemas.openxmlformats.org/drawingml/2006/main">
              <a:ext uri="{FF2B5EF4-FFF2-40B4-BE49-F238E27FC236}">
                <a16:creationId xmlns:a16="http://schemas.microsoft.com/office/drawing/2014/main" id="{78909ADC-C4B1-4C63-9876-0B9A9DDBAC7E}"/>
              </a:ext>
            </a:extLst>
          </p:cNvPr>
          <p:cNvSpPr>
            <a:spLocks xmlns:a="http://schemas.openxmlformats.org/drawingml/2006/main" noGrp="1"/>
          </p:cNvSpPr>
          <p:nvPr/>
        </p:nvSpPr>
        <p:spPr>
          <a:xfrm xmlns:a="http://schemas.openxmlformats.org/drawingml/2006/main">
            <a:off x="685800" y="2686050"/>
            <a:ext cx="2819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24959"/>
                </a:solidFill>
                <a:latin typeface="Helvetica Neue"/>
                <a:ea typeface="Helvetica Neue"/>
                <a:cs typeface="Helvetica Neue"/>
              </a:defRPr>
            </a:defPPr>
          </a:lstStyle>
          <a:p xmlns:a="http://schemas.openxmlformats.org/drawingml/2006/main">
            <a:pPr>
              <a:defRPr sz="2325" b="1">
                <a:solidFill>
                  <a:srgbClr val="024959"/>
                </a:solidFill>
                <a:latin typeface="Helvetica Neue"/>
                <a:ea typeface="Helvetica Neue"/>
                <a:cs typeface="Helvetica Neue"/>
              </a:defRPr>
            </a:pPr>
            <a:r>
              <a:rPr sz="2325" b="1">
                <a:solidFill>
                  <a:srgbClr val="024959"/>
                </a:solidFill>
                <a:latin typeface="Helvetica Neue"/>
                <a:ea typeface="Helvetica Neue"/>
                <a:cs typeface="Helvetica Neue"/>
              </a:rPr>
              <a:t>Consistency</a:t>
            </a:r>
          </a:p>
        </p:txBody>
      </p:sp>
      <p:sp>
        <p:nvSpPr>
          <p:cNvPr id="6" name="">
            <a:extLst xmlns:a="http://schemas.openxmlformats.org/drawingml/2006/main">
              <a:ext uri="{FF2B5EF4-FFF2-40B4-BE49-F238E27FC236}">
                <a16:creationId xmlns:a16="http://schemas.microsoft.com/office/drawing/2014/main" id="{8222C560-58C4-41FC-87B8-518070EB4404}"/>
              </a:ext>
            </a:extLst>
          </p:cNvPr>
          <p:cNvSpPr>
            <a:spLocks xmlns:a="http://schemas.openxmlformats.org/drawingml/2006/main" noGrp="1"/>
          </p:cNvSpPr>
          <p:nvPr/>
        </p:nvSpPr>
        <p:spPr>
          <a:xfrm xmlns:a="http://schemas.openxmlformats.org/drawingml/2006/main">
            <a:off x="3657600" y="2686050"/>
            <a:ext cx="7848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83F"/>
                </a:solidFill>
                <a:latin typeface="Helvetica Neue"/>
                <a:ea typeface="Helvetica Neue"/>
                <a:cs typeface="Helvetica Neue"/>
              </a:defRPr>
            </a:defPPr>
          </a:lstStyle>
          <a:p xmlns:a="http://schemas.openxmlformats.org/drawingml/2006/main">
            <a:pPr>
              <a:defRPr sz="2250" b="0">
                <a:solidFill>
                  <a:srgbClr val="17383F"/>
                </a:solidFill>
                <a:latin typeface="Helvetica Neue"/>
                <a:ea typeface="Helvetica Neue"/>
                <a:cs typeface="Helvetica Neue"/>
              </a:defRPr>
            </a:pPr>
            <a:r>
              <a:rPr sz="2250" b="0">
                <a:solidFill>
                  <a:srgbClr val="17383F"/>
                </a:solidFill>
                <a:latin typeface="Helvetica Neue"/>
                <a:ea typeface="Helvetica Neue"/>
                <a:cs typeface="Helvetica Neue"/>
              </a:rPr>
              <a:t>Shared values and named style choices</a:t>
            </a:r>
          </a:p>
        </p:txBody>
      </p:sp>
      <p:sp>
        <p:nvSpPr>
          <p:cNvPr id="7" name="">
            <a:extLst xmlns:a="http://schemas.openxmlformats.org/drawingml/2006/main">
              <a:ext uri="{FF2B5EF4-FFF2-40B4-BE49-F238E27FC236}">
                <a16:creationId xmlns:a16="http://schemas.microsoft.com/office/drawing/2014/main" id="{6DAC91C2-0655-4F4A-985F-0C7CAE37FF9D}"/>
              </a:ext>
            </a:extLst>
          </p:cNvPr>
          <p:cNvSpPr>
            <a:spLocks xmlns:a="http://schemas.openxmlformats.org/drawingml/2006/main" noGrp="1"/>
          </p:cNvSpPr>
          <p:nvPr/>
        </p:nvSpPr>
        <p:spPr>
          <a:xfrm xmlns:a="http://schemas.openxmlformats.org/drawingml/2006/main">
            <a:off x="685800" y="3552825"/>
            <a:ext cx="2819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24959"/>
                </a:solidFill>
                <a:latin typeface="Helvetica Neue"/>
                <a:ea typeface="Helvetica Neue"/>
                <a:cs typeface="Helvetica Neue"/>
              </a:defRPr>
            </a:defPPr>
          </a:lstStyle>
          <a:p xmlns:a="http://schemas.openxmlformats.org/drawingml/2006/main">
            <a:pPr>
              <a:defRPr sz="2325" b="1">
                <a:solidFill>
                  <a:srgbClr val="024959"/>
                </a:solidFill>
                <a:latin typeface="Helvetica Neue"/>
                <a:ea typeface="Helvetica Neue"/>
                <a:cs typeface="Helvetica Neue"/>
              </a:defRPr>
            </a:pPr>
            <a:r>
              <a:rPr sz="2325" b="1">
                <a:solidFill>
                  <a:srgbClr val="024959"/>
                </a:solidFill>
                <a:latin typeface="Helvetica Neue"/>
                <a:ea typeface="Helvetica Neue"/>
                <a:cs typeface="Helvetica Neue"/>
              </a:rPr>
              <a:t>Maintenance</a:t>
            </a:r>
          </a:p>
        </p:txBody>
      </p:sp>
      <p:sp>
        <p:nvSpPr>
          <p:cNvPr id="8" name="">
            <a:extLst xmlns:a="http://schemas.openxmlformats.org/drawingml/2006/main">
              <a:ext uri="{FF2B5EF4-FFF2-40B4-BE49-F238E27FC236}">
                <a16:creationId xmlns:a16="http://schemas.microsoft.com/office/drawing/2014/main" id="{4EEFDD14-FC80-49FD-8098-CB6D99D3A63B}"/>
              </a:ext>
            </a:extLst>
          </p:cNvPr>
          <p:cNvSpPr>
            <a:spLocks xmlns:a="http://schemas.openxmlformats.org/drawingml/2006/main" noGrp="1"/>
          </p:cNvSpPr>
          <p:nvPr/>
        </p:nvSpPr>
        <p:spPr>
          <a:xfrm xmlns:a="http://schemas.openxmlformats.org/drawingml/2006/main">
            <a:off x="3657600" y="3552825"/>
            <a:ext cx="7848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83F"/>
                </a:solidFill>
                <a:latin typeface="Helvetica Neue"/>
                <a:ea typeface="Helvetica Neue"/>
                <a:cs typeface="Helvetica Neue"/>
              </a:defRPr>
            </a:defPPr>
          </a:lstStyle>
          <a:p xmlns:a="http://schemas.openxmlformats.org/drawingml/2006/main">
            <a:pPr>
              <a:defRPr sz="2250" b="0">
                <a:solidFill>
                  <a:srgbClr val="17383F"/>
                </a:solidFill>
                <a:latin typeface="Helvetica Neue"/>
                <a:ea typeface="Helvetica Neue"/>
                <a:cs typeface="Helvetica Neue"/>
              </a:defRPr>
            </a:pPr>
            <a:r>
              <a:rPr sz="2250" b="0">
                <a:solidFill>
                  <a:srgbClr val="17383F"/>
                </a:solidFill>
                <a:latin typeface="Helvetica Neue"/>
                <a:ea typeface="Helvetica Neue"/>
                <a:cs typeface="Helvetica Neue"/>
              </a:rPr>
              <a:t>Clear homes for presentation and content rules</a:t>
            </a:r>
          </a:p>
        </p:txBody>
      </p:sp>
      <p:sp>
        <p:nvSpPr>
          <p:cNvPr id="9" name="">
            <a:extLst xmlns:a="http://schemas.openxmlformats.org/drawingml/2006/main">
              <a:ext uri="{FF2B5EF4-FFF2-40B4-BE49-F238E27FC236}">
                <a16:creationId xmlns:a16="http://schemas.microsoft.com/office/drawing/2014/main" id="{D61F7570-C550-4CCC-877A-C54719B26970}"/>
              </a:ext>
            </a:extLst>
          </p:cNvPr>
          <p:cNvSpPr>
            <a:spLocks xmlns:a="http://schemas.openxmlformats.org/drawingml/2006/main" noGrp="1"/>
          </p:cNvSpPr>
          <p:nvPr/>
        </p:nvSpPr>
        <p:spPr>
          <a:xfrm xmlns:a="http://schemas.openxmlformats.org/drawingml/2006/main">
            <a:off x="685800" y="4419600"/>
            <a:ext cx="2819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24959"/>
                </a:solidFill>
                <a:latin typeface="Helvetica Neue"/>
                <a:ea typeface="Helvetica Neue"/>
                <a:cs typeface="Helvetica Neue"/>
              </a:defRPr>
            </a:defPPr>
          </a:lstStyle>
          <a:p xmlns:a="http://schemas.openxmlformats.org/drawingml/2006/main">
            <a:pPr>
              <a:defRPr sz="2325" b="1">
                <a:solidFill>
                  <a:srgbClr val="024959"/>
                </a:solidFill>
                <a:latin typeface="Helvetica Neue"/>
                <a:ea typeface="Helvetica Neue"/>
                <a:cs typeface="Helvetica Neue"/>
              </a:defRPr>
            </a:pPr>
            <a:r>
              <a:rPr sz="2325" b="1">
                <a:solidFill>
                  <a:srgbClr val="024959"/>
                </a:solidFill>
                <a:latin typeface="Helvetica Neue"/>
                <a:ea typeface="Helvetica Neue"/>
                <a:cs typeface="Helvetica Neue"/>
              </a:rPr>
              <a:t>Asset loading</a:t>
            </a:r>
          </a:p>
        </p:txBody>
      </p:sp>
      <p:sp>
        <p:nvSpPr>
          <p:cNvPr id="10" name="">
            <a:extLst xmlns:a="http://schemas.openxmlformats.org/drawingml/2006/main">
              <a:ext uri="{FF2B5EF4-FFF2-40B4-BE49-F238E27FC236}">
                <a16:creationId xmlns:a16="http://schemas.microsoft.com/office/drawing/2014/main" id="{19594128-31F5-48CC-A37A-E2504BF0E3A8}"/>
              </a:ext>
            </a:extLst>
          </p:cNvPr>
          <p:cNvSpPr>
            <a:spLocks xmlns:a="http://schemas.openxmlformats.org/drawingml/2006/main" noGrp="1"/>
          </p:cNvSpPr>
          <p:nvPr/>
        </p:nvSpPr>
        <p:spPr>
          <a:xfrm xmlns:a="http://schemas.openxmlformats.org/drawingml/2006/main">
            <a:off x="3657600" y="4419600"/>
            <a:ext cx="7848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83F"/>
                </a:solidFill>
                <a:latin typeface="Helvetica Neue"/>
                <a:ea typeface="Helvetica Neue"/>
                <a:cs typeface="Helvetica Neue"/>
              </a:defRPr>
            </a:defPPr>
          </a:lstStyle>
          <a:p xmlns:a="http://schemas.openxmlformats.org/drawingml/2006/main">
            <a:pPr>
              <a:defRPr sz="2250" b="0">
                <a:solidFill>
                  <a:srgbClr val="17383F"/>
                </a:solidFill>
                <a:latin typeface="Helvetica Neue"/>
                <a:ea typeface="Helvetica Neue"/>
                <a:cs typeface="Helvetica Neue"/>
              </a:defRPr>
            </a:pPr>
            <a:r>
              <a:rPr sz="2250" b="0">
                <a:solidFill>
                  <a:srgbClr val="17383F"/>
                </a:solidFill>
                <a:latin typeface="Helvetica Neue"/>
                <a:ea typeface="Helvetica Neue"/>
                <a:cs typeface="Helvetica Neue"/>
              </a:rPr>
              <a:t>Frontend pattern assets follow rendered sections</a:t>
            </a:r>
          </a:p>
        </p:txBody>
      </p:sp>
      <p:sp>
        <p:nvSpPr>
          <p:cNvPr id="11" name="">
            <a:extLst xmlns:a="http://schemas.openxmlformats.org/drawingml/2006/main">
              <a:ext uri="{FF2B5EF4-FFF2-40B4-BE49-F238E27FC236}">
                <a16:creationId xmlns:a16="http://schemas.microsoft.com/office/drawing/2014/main" id="{C030732B-5A7F-4D5B-BFA0-290E3EE0732D}"/>
              </a:ext>
            </a:extLst>
          </p:cNvPr>
          <p:cNvSpPr>
            <a:spLocks xmlns:a="http://schemas.openxmlformats.org/drawingml/2006/main" noGrp="1"/>
          </p:cNvSpPr>
          <p:nvPr/>
        </p:nvSpPr>
        <p:spPr>
          <a:xfrm xmlns:a="http://schemas.openxmlformats.org/drawingml/2006/main">
            <a:off x="685800" y="56292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C6368"/>
                </a:solidFill>
                <a:latin typeface="Helvetica Neue"/>
                <a:ea typeface="Helvetica Neue"/>
                <a:cs typeface="Helvetica Neue"/>
              </a:defRPr>
            </a:defPPr>
          </a:lstStyle>
          <a:p xmlns:a="http://schemas.openxmlformats.org/drawingml/2006/main">
            <a:pPr>
              <a:defRPr sz="2025" b="0">
                <a:solidFill>
                  <a:srgbClr val="4C6368"/>
                </a:solidFill>
                <a:latin typeface="Helvetica Neue"/>
                <a:ea typeface="Helvetica Neue"/>
                <a:cs typeface="Helvetica Neue"/>
              </a:defRPr>
            </a:pPr>
            <a:r>
              <a:rPr sz="2025" b="0">
                <a:solidFill>
                  <a:srgbClr val="4C6368"/>
                </a:solidFill>
                <a:latin typeface="Helvetica Neue"/>
                <a:ea typeface="Helvetica Neue"/>
                <a:cs typeface="Helvetica Neue"/>
              </a:rPr>
              <a:t>Performance and accessibility still need measurement and testing.</a:t>
            </a:r>
          </a:p>
        </p:txBody>
      </p:sp>
    </p:spTree>
    <p:extLst>
      <p:ext uri="{BB962C8B-B14F-4D97-AF65-F5344CB8AC3E}">
        <p14:creationId xmlns:p14="http://schemas.microsoft.com/office/powerpoint/2010/main" val="1537316516"/>
      </p:ext>
    </p:extLst>
  </p:cSld>
</p:sld>
</file>

<file path=ppt/slides/slide8.xml><?xml version="1.0" encoding="utf-8"?>
<p:sld xmlns:p="http://schemas.openxmlformats.org/presentationml/2006/main">
  <p:cSld>
    <p:bg>
      <p:bgPr>
        <a:solidFill xmlns:a="http://schemas.openxmlformats.org/drawingml/2006/main">
          <a:srgbClr val="02495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CF1226-B4A6-4A66-8DC2-ABE3EF79BCA4}"/>
              </a:ext>
            </a:extLst>
          </p:cNvPr>
          <p:cNvSpPr>
            <a:spLocks xmlns:a="http://schemas.openxmlformats.org/drawingml/2006/main" noGrp="1"/>
          </p:cNvSpPr>
          <p:nvPr/>
        </p:nvSpPr>
        <p:spPr>
          <a:xfrm xmlns:a="http://schemas.openxmlformats.org/drawingml/2006/main">
            <a:off x="685800" y="552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Helvetica Neue"/>
                <a:ea typeface="Helvetica Neue"/>
                <a:cs typeface="Helvetica Neue"/>
              </a:defRPr>
            </a:def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Choosing the right starting point</a:t>
            </a:r>
          </a:p>
        </p:txBody>
      </p:sp>
      <p:sp>
        <p:nvSpPr>
          <p:cNvPr id="2" name="">
            <a:extLst xmlns:a="http://schemas.openxmlformats.org/drawingml/2006/main">
              <a:ext uri="{FF2B5EF4-FFF2-40B4-BE49-F238E27FC236}">
                <a16:creationId xmlns:a16="http://schemas.microsoft.com/office/drawing/2014/main" id="{2C387721-2487-48D4-BD92-FD1A9BB20F9E}"/>
              </a:ext>
            </a:extLst>
          </p:cNvPr>
          <p:cNvSpPr>
            <a:spLocks xmlns:a="http://schemas.openxmlformats.org/drawingml/2006/main" noGrp="1"/>
          </p:cNvSpPr>
          <p:nvPr/>
        </p:nvSpPr>
        <p:spPr>
          <a:xfrm xmlns:a="http://schemas.openxmlformats.org/drawingml/2006/main">
            <a:off x="11049000" y="63055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CCF"/>
                </a:solidFill>
                <a:latin typeface="Helvetica Neue"/>
                <a:ea typeface="Helvetica Neue"/>
                <a:cs typeface="Helvetica Neue"/>
              </a:defRPr>
            </a:defPPr>
          </a:lstStyle>
          <a:p xmlns:a="http://schemas.openxmlformats.org/drawingml/2006/main">
            <a:pPr>
              <a:defRPr sz="1350" b="0">
                <a:solidFill>
                  <a:srgbClr val="B7CCCF"/>
                </a:solidFill>
                <a:latin typeface="Helvetica Neue"/>
                <a:ea typeface="Helvetica Neue"/>
                <a:cs typeface="Helvetica Neue"/>
              </a:defRPr>
            </a:pPr>
            <a:r>
              <a:rPr sz="1350" b="0">
                <a:solidFill>
                  <a:srgbClr val="B7CCC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C75B0D9C-B000-48EE-9AD2-90B33AA63EB0}"/>
              </a:ext>
            </a:extLst>
          </p:cNvPr>
          <p:cNvSpPr>
            <a:spLocks xmlns:a="http://schemas.openxmlformats.org/drawingml/2006/main" noGrp="1"/>
          </p:cNvSpPr>
          <p:nvPr/>
        </p:nvSpPr>
        <p:spPr>
          <a:xfrm xmlns:a="http://schemas.openxmlformats.org/drawingml/2006/main">
            <a:off x="685800" y="2105025"/>
            <a:ext cx="561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Helvetica Neue"/>
                <a:ea typeface="Helvetica Neue"/>
                <a:cs typeface="Helvetica Neue"/>
              </a:defRPr>
            </a:def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A designed section?</a:t>
            </a:r>
          </a:p>
        </p:txBody>
      </p:sp>
      <p:sp>
        <p:nvSpPr>
          <p:cNvPr id="4" name="">
            <a:extLst xmlns:a="http://schemas.openxmlformats.org/drawingml/2006/main">
              <a:ext uri="{FF2B5EF4-FFF2-40B4-BE49-F238E27FC236}">
                <a16:creationId xmlns:a16="http://schemas.microsoft.com/office/drawing/2014/main" id="{998EE58C-4313-45C9-A2FC-B759D15F561D}"/>
              </a:ext>
            </a:extLst>
          </p:cNvPr>
          <p:cNvSpPr>
            <a:spLocks xmlns:a="http://schemas.openxmlformats.org/drawingml/2006/main" noGrp="1"/>
          </p:cNvSpPr>
          <p:nvPr/>
        </p:nvSpPr>
        <p:spPr>
          <a:xfrm xmlns:a="http://schemas.openxmlformats.org/drawingml/2006/main">
            <a:off x="6610350" y="2105025"/>
            <a:ext cx="4895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FFFFFF"/>
                </a:solidFill>
                <a:latin typeface="Helvetica Neue"/>
                <a:ea typeface="Helvetica Neue"/>
                <a:cs typeface="Helvetica Neue"/>
              </a:defRPr>
            </a:defPPr>
          </a:lstStyle>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Start with a pattern.</a:t>
            </a:r>
          </a:p>
        </p:txBody>
      </p:sp>
      <p:sp>
        <p:nvSpPr>
          <p:cNvPr id="5" name="">
            <a:extLst xmlns:a="http://schemas.openxmlformats.org/drawingml/2006/main">
              <a:ext uri="{FF2B5EF4-FFF2-40B4-BE49-F238E27FC236}">
                <a16:creationId xmlns:a16="http://schemas.microsoft.com/office/drawing/2014/main" id="{6980DF2D-2EB0-41A5-BB9F-3F64D8418DE2}"/>
              </a:ext>
            </a:extLst>
          </p:cNvPr>
          <p:cNvSpPr>
            <a:spLocks xmlns:a="http://schemas.openxmlformats.org/drawingml/2006/main" noGrp="1"/>
          </p:cNvSpPr>
          <p:nvPr/>
        </p:nvSpPr>
        <p:spPr>
          <a:xfrm xmlns:a="http://schemas.openxmlformats.org/drawingml/2006/main">
            <a:off x="685800" y="3086100"/>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Helvetica Neue"/>
                <a:ea typeface="Helvetica Neue"/>
                <a:cs typeface="Helvetica Neue"/>
              </a:defRPr>
            </a:def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New controls or behaviour?</a:t>
            </a:r>
          </a:p>
        </p:txBody>
      </p:sp>
      <p:sp>
        <p:nvSpPr>
          <p:cNvPr id="6" name="">
            <a:extLst xmlns:a="http://schemas.openxmlformats.org/drawingml/2006/main">
              <a:ext uri="{FF2B5EF4-FFF2-40B4-BE49-F238E27FC236}">
                <a16:creationId xmlns:a16="http://schemas.microsoft.com/office/drawing/2014/main" id="{5AF0124C-E158-4809-A261-FB2AF6E8B62F}"/>
              </a:ext>
            </a:extLst>
          </p:cNvPr>
          <p:cNvSpPr>
            <a:spLocks xmlns:a="http://schemas.openxmlformats.org/drawingml/2006/main" noGrp="1"/>
          </p:cNvSpPr>
          <p:nvPr/>
        </p:nvSpPr>
        <p:spPr>
          <a:xfrm xmlns:a="http://schemas.openxmlformats.org/drawingml/2006/main">
            <a:off x="6610350" y="3086100"/>
            <a:ext cx="4895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FFFFFF"/>
                </a:solidFill>
                <a:latin typeface="Helvetica Neue"/>
                <a:ea typeface="Helvetica Neue"/>
                <a:cs typeface="Helvetica Neue"/>
              </a:defRPr>
            </a:defPPr>
          </a:lstStyle>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Review the block needs.</a:t>
            </a:r>
          </a:p>
        </p:txBody>
      </p:sp>
      <p:sp>
        <p:nvSpPr>
          <p:cNvPr id="7" name="">
            <a:extLst xmlns:a="http://schemas.openxmlformats.org/drawingml/2006/main">
              <a:ext uri="{FF2B5EF4-FFF2-40B4-BE49-F238E27FC236}">
                <a16:creationId xmlns:a16="http://schemas.microsoft.com/office/drawing/2014/main" id="{AE5CAA2C-D733-4EE3-A850-F417C05BFCD4}"/>
              </a:ext>
            </a:extLst>
          </p:cNvPr>
          <p:cNvSpPr>
            <a:spLocks xmlns:a="http://schemas.openxmlformats.org/drawingml/2006/main" noGrp="1"/>
          </p:cNvSpPr>
          <p:nvPr/>
        </p:nvSpPr>
        <p:spPr>
          <a:xfrm xmlns:a="http://schemas.openxmlformats.org/drawingml/2006/main">
            <a:off x="685800" y="40671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Helvetica Neue"/>
                <a:ea typeface="Helvetica Neue"/>
                <a:cs typeface="Helvetica Neue"/>
              </a:defRPr>
            </a:def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A change across the site?</a:t>
            </a:r>
          </a:p>
        </p:txBody>
      </p:sp>
      <p:sp>
        <p:nvSpPr>
          <p:cNvPr id="8" name="">
            <a:extLst xmlns:a="http://schemas.openxmlformats.org/drawingml/2006/main">
              <a:ext uri="{FF2B5EF4-FFF2-40B4-BE49-F238E27FC236}">
                <a16:creationId xmlns:a16="http://schemas.microsoft.com/office/drawing/2014/main" id="{4D26B30A-0886-48AF-87D6-3F32490319CD}"/>
              </a:ext>
            </a:extLst>
          </p:cNvPr>
          <p:cNvSpPr>
            <a:spLocks xmlns:a="http://schemas.openxmlformats.org/drawingml/2006/main" noGrp="1"/>
          </p:cNvSpPr>
          <p:nvPr/>
        </p:nvSpPr>
        <p:spPr>
          <a:xfrm xmlns:a="http://schemas.openxmlformats.org/drawingml/2006/main">
            <a:off x="6610350" y="4067175"/>
            <a:ext cx="4895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FFFFF"/>
                </a:solidFill>
                <a:latin typeface="Helvetica Neue"/>
                <a:ea typeface="Helvetica Neue"/>
                <a:cs typeface="Helvetica Neue"/>
              </a:defRPr>
            </a:defPPr>
          </a:lstStyle>
          <a:p xmlns:a="http://schemas.openxmlformats.org/drawingml/2006/main">
            <a:pPr>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Choose a shared setting</a:t>
            </a:r>
          </a:p>
          <a:p xmlns:a="http://schemas.openxmlformats.org/drawingml/2006/main">
            <a:pPr>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or shared content.</a:t>
            </a:r>
          </a:p>
        </p:txBody>
      </p:sp>
      <p:sp>
        <p:nvSpPr>
          <p:cNvPr id="9" name="">
            <a:extLst xmlns:a="http://schemas.openxmlformats.org/drawingml/2006/main">
              <a:ext uri="{FF2B5EF4-FFF2-40B4-BE49-F238E27FC236}">
                <a16:creationId xmlns:a16="http://schemas.microsoft.com/office/drawing/2014/main" id="{0909E4E1-5793-4CBF-A278-940B94C2D84C}"/>
              </a:ext>
            </a:extLst>
          </p:cNvPr>
          <p:cNvSpPr>
            <a:spLocks xmlns:a="http://schemas.openxmlformats.org/drawingml/2006/main" noGrp="1"/>
          </p:cNvSpPr>
          <p:nvPr/>
        </p:nvSpPr>
        <p:spPr>
          <a:xfrm xmlns:a="http://schemas.openxmlformats.org/drawingml/2006/main">
            <a:off x="685800" y="56388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B7CCCF"/>
                </a:solidFill>
                <a:latin typeface="Helvetica Neue"/>
                <a:ea typeface="Helvetica Neue"/>
                <a:cs typeface="Helvetica Neue"/>
              </a:defRPr>
            </a:defPPr>
          </a:lstStyle>
          <a:p xmlns:a="http://schemas.openxmlformats.org/drawingml/2006/main">
            <a:pPr>
              <a:defRPr sz="2325" b="0">
                <a:solidFill>
                  <a:srgbClr val="B7CCCF"/>
                </a:solidFill>
                <a:latin typeface="Helvetica Neue"/>
                <a:ea typeface="Helvetica Neue"/>
                <a:cs typeface="Helvetica Neue"/>
              </a:defRPr>
            </a:pPr>
            <a:r>
              <a:rPr sz="2325" b="0">
                <a:solidFill>
                  <a:srgbClr val="B7CCCF"/>
                </a:solidFill>
                <a:latin typeface="Helvetica Neue"/>
                <a:ea typeface="Helvetica Neue"/>
                <a:cs typeface="Helvetica Neue"/>
              </a:rPr>
              <a:t>What would you like to change on your next page?</a:t>
            </a:r>
          </a:p>
        </p:txBody>
      </p:sp>
    </p:spTree>
    <p:extLst>
      <p:ext uri="{BB962C8B-B14F-4D97-AF65-F5344CB8AC3E}">
        <p14:creationId xmlns:p14="http://schemas.microsoft.com/office/powerpoint/2010/main" val="1269373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2026-10-13T08:07:52.5160000Z</dcterms:created>
  <dcterms:modified xsi:type="dcterms:W3CDTF">2026-10-13T08:07:52.5160000Z</dcterms:modified>
</coreProperties>
</file>